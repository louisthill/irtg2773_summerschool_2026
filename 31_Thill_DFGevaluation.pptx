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7559675" cy="10691813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C"/>
    <a:srgbClr val="00305D"/>
    <a:srgbClr val="0000B3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61" autoAdjust="0"/>
  </p:normalViewPr>
  <p:slideViewPr>
    <p:cSldViewPr snapToGrid="0">
      <p:cViewPr>
        <p:scale>
          <a:sx n="75" d="100"/>
          <a:sy n="75" d="100"/>
        </p:scale>
        <p:origin x="14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68940-34F7-49FC-AC33-BB193E3AAA51}" type="datetimeFigureOut">
              <a:rPr lang="en-DE" smtClean="0"/>
              <a:t>08/06/2026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527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B8D0D-0A20-448D-BD64-4FD7C6F6DE88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219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B8D0D-0A20-448D-BD64-4FD7C6F6DE88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756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i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/>
          <p:nvPr/>
        </p:nvSpPr>
        <p:spPr>
          <a:xfrm>
            <a:off x="3664080" y="39268440"/>
            <a:ext cx="60703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numCol="1" spcCol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Grafik 14"/>
          <p:cNvPicPr/>
          <p:nvPr/>
        </p:nvPicPr>
        <p:blipFill>
          <a:blip r:embed="rId2"/>
          <a:stretch/>
        </p:blipFill>
        <p:spPr>
          <a:xfrm>
            <a:off x="22299480" y="703440"/>
            <a:ext cx="4877640" cy="303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hteck 16"/>
          <p:cNvSpPr/>
          <p:nvPr/>
        </p:nvSpPr>
        <p:spPr>
          <a:xfrm>
            <a:off x="0" y="4044960"/>
            <a:ext cx="15054480" cy="359640"/>
          </a:xfrm>
          <a:prstGeom prst="rect">
            <a:avLst/>
          </a:prstGeom>
          <a:solidFill>
            <a:srgbClr val="003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5" name="Rechteck 17"/>
          <p:cNvSpPr/>
          <p:nvPr/>
        </p:nvSpPr>
        <p:spPr>
          <a:xfrm>
            <a:off x="15054840" y="4041360"/>
            <a:ext cx="15220080" cy="359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6" name="Grafik 2"/>
          <p:cNvPicPr/>
          <p:nvPr/>
        </p:nvPicPr>
        <p:blipFill>
          <a:blip r:embed="rId3"/>
          <a:stretch/>
        </p:blipFill>
        <p:spPr>
          <a:xfrm>
            <a:off x="13084560" y="239040"/>
            <a:ext cx="4105800" cy="364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Grafik 3"/>
          <p:cNvPicPr/>
          <p:nvPr/>
        </p:nvPicPr>
        <p:blipFill>
          <a:blip r:embed="rId4"/>
          <a:stretch/>
        </p:blipFill>
        <p:spPr>
          <a:xfrm>
            <a:off x="1223280" y="394560"/>
            <a:ext cx="8706600" cy="3648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Weis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/>
          <p:nvPr/>
        </p:nvSpPr>
        <p:spPr>
          <a:xfrm>
            <a:off x="3664080" y="39268440"/>
            <a:ext cx="60703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36720" rIns="36720" bIns="36720" numCol="1" spcCol="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" name="Grafik 14"/>
          <p:cNvPicPr/>
          <p:nvPr/>
        </p:nvPicPr>
        <p:blipFill>
          <a:blip r:embed="rId2"/>
          <a:stretch/>
        </p:blipFill>
        <p:spPr>
          <a:xfrm>
            <a:off x="18786600" y="548280"/>
            <a:ext cx="4877640" cy="303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chteck 16"/>
          <p:cNvSpPr/>
          <p:nvPr/>
        </p:nvSpPr>
        <p:spPr>
          <a:xfrm>
            <a:off x="0" y="4043160"/>
            <a:ext cx="15054480" cy="35964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1" name="Rechteck 17"/>
          <p:cNvSpPr/>
          <p:nvPr/>
        </p:nvSpPr>
        <p:spPr>
          <a:xfrm>
            <a:off x="15054840" y="4043160"/>
            <a:ext cx="15220080" cy="357840"/>
          </a:xfrm>
          <a:prstGeom prst="rect">
            <a:avLst/>
          </a:prstGeom>
          <a:solidFill>
            <a:srgbClr val="E12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2" name="Grafik 2"/>
          <p:cNvPicPr/>
          <p:nvPr/>
        </p:nvPicPr>
        <p:blipFill>
          <a:blip r:embed="rId3"/>
          <a:stretch/>
        </p:blipFill>
        <p:spPr>
          <a:xfrm>
            <a:off x="13084560" y="239040"/>
            <a:ext cx="4105800" cy="364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rafik 3"/>
          <p:cNvPicPr/>
          <p:nvPr/>
        </p:nvPicPr>
        <p:blipFill>
          <a:blip r:embed="rId4"/>
          <a:stretch/>
        </p:blipFill>
        <p:spPr>
          <a:xfrm>
            <a:off x="3693600" y="239040"/>
            <a:ext cx="8706600" cy="364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13440" y="1707840"/>
            <a:ext cx="27247320" cy="71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</a:lstStyle>
          <a:p>
            <a:pPr indent="0" algn="l"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Format des Titeltextes durch Klicken bearbeiten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696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497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447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447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696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Format des Gliederungstextes durch Klicken bearbeiten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497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Zweite Gliederungsebene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447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Dritte Gliederungsebene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447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Vierte Gliederungsebene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Fünfte Gliederungsebene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Sechste Gliederungsebene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Siebte Gliederungsebene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21" Type="http://schemas.openxmlformats.org/officeDocument/2006/relationships/image" Target="../media/image22.png"/><Relationship Id="rId34" Type="http://schemas.openxmlformats.org/officeDocument/2006/relationships/image" Target="../media/image35.sv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svg"/><Relationship Id="rId37" Type="http://schemas.openxmlformats.org/officeDocument/2006/relationships/image" Target="../media/image38.pn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svg"/><Relationship Id="rId10" Type="http://schemas.openxmlformats.org/officeDocument/2006/relationships/image" Target="../media/image11.jpe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8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rafik 54" descr="Ein Bild, das Kleidung, Jeans, Zeichnung, Hose enthält.&#10;&#10;KI-generierte Inhalte können fehlerhaft sein.">
            <a:extLst>
              <a:ext uri="{FF2B5EF4-FFF2-40B4-BE49-F238E27FC236}">
                <a16:creationId xmlns:a16="http://schemas.microsoft.com/office/drawing/2014/main" id="{67D9BFE9-5085-5168-35BA-30DFC33D76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158" y="29436222"/>
            <a:ext cx="1651202" cy="1980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D3023DE-4761-28CB-8606-0D7E871C0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418" y="38969297"/>
            <a:ext cx="3575110" cy="3575110"/>
          </a:xfrm>
          <a:prstGeom prst="rect">
            <a:avLst/>
          </a:prstGeom>
        </p:spPr>
      </p:pic>
      <p:pic>
        <p:nvPicPr>
          <p:cNvPr id="87" name="Grafik 86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6AFC6060-A931-2687-C7C1-EEF80A974B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00" y="32278549"/>
            <a:ext cx="7761937" cy="4657162"/>
          </a:xfrm>
          <a:prstGeom prst="rect">
            <a:avLst/>
          </a:prstGeom>
        </p:spPr>
      </p:pic>
      <p:sp>
        <p:nvSpPr>
          <p:cNvPr id="26" name="Ellipse 7"/>
          <p:cNvSpPr/>
          <p:nvPr/>
        </p:nvSpPr>
        <p:spPr>
          <a:xfrm>
            <a:off x="907560" y="774285"/>
            <a:ext cx="2708640" cy="2610720"/>
          </a:xfrm>
          <a:prstGeom prst="ellipse">
            <a:avLst/>
          </a:prstGeom>
          <a:solidFill>
            <a:schemeClr val="bg1"/>
          </a:solidFill>
          <a:ln w="76200">
            <a:solidFill>
              <a:srgbClr val="00008C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9600" b="1" u="none" strike="noStrike" dirty="0">
                <a:solidFill>
                  <a:srgbClr val="00008C"/>
                </a:solidFill>
                <a:effectLst/>
                <a:uFillTx/>
                <a:latin typeface="Open Sans"/>
              </a:rPr>
              <a:t>31</a:t>
            </a:r>
            <a:endParaRPr lang="de-DE" sz="96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B3296DA-EC13-AB07-05CB-A4819F8974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1806" y="5477274"/>
            <a:ext cx="2781633" cy="2808000"/>
          </a:xfrm>
          <a:prstGeom prst="rect">
            <a:avLst/>
          </a:prstGeom>
        </p:spPr>
      </p:pic>
      <p:pic>
        <p:nvPicPr>
          <p:cNvPr id="3" name="Grafik 2" descr="Ein Bild, das Kleidung, Softdrink, Flasche, Zeichnung enthält.&#10;&#10;KI-generierte Inhalte können fehlerhaft sein.">
            <a:extLst>
              <a:ext uri="{FF2B5EF4-FFF2-40B4-BE49-F238E27FC236}">
                <a16:creationId xmlns:a16="http://schemas.microsoft.com/office/drawing/2014/main" id="{5741759A-6696-03A7-61C8-39B1A56A11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3649" y="34663501"/>
            <a:ext cx="1797120" cy="2160000"/>
          </a:xfrm>
          <a:prstGeom prst="rect">
            <a:avLst/>
          </a:prstGeom>
        </p:spPr>
      </p:pic>
      <p:pic>
        <p:nvPicPr>
          <p:cNvPr id="4" name="Grafik 3" descr="Ein Bild, das Kleidung, Jeans, Schuhwerk, Hose enthält.&#10;&#10;KI-generierte Inhalte können fehlerhaft sein.">
            <a:extLst>
              <a:ext uri="{FF2B5EF4-FFF2-40B4-BE49-F238E27FC236}">
                <a16:creationId xmlns:a16="http://schemas.microsoft.com/office/drawing/2014/main" id="{E6A8E4FA-898A-944A-7281-FCA25160328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6782" y="34783404"/>
            <a:ext cx="1809985" cy="2160000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DA5F1EE8-0F42-53CC-C374-C8D3211BD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302" y="7917004"/>
            <a:ext cx="24095075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9B4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B2A5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B2A51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https://tu-dresden.de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A98DC1C-5D88-5E2A-AAA6-7CB3CACF29D7}"/>
              </a:ext>
            </a:extLst>
          </p:cNvPr>
          <p:cNvSpPr txBox="1"/>
          <p:nvPr/>
        </p:nvSpPr>
        <p:spPr>
          <a:xfrm>
            <a:off x="3292511" y="4765063"/>
            <a:ext cx="23608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Transdiagnostic Investigation of Pavlovian-to-Instrumental Transfer and Its Neurocognitive Underpinnings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E3BF82D-1422-8F8F-ACF7-B5761EB2B59D}"/>
              </a:ext>
            </a:extLst>
          </p:cNvPr>
          <p:cNvSpPr txBox="1"/>
          <p:nvPr/>
        </p:nvSpPr>
        <p:spPr>
          <a:xfrm>
            <a:off x="881743" y="8721630"/>
            <a:ext cx="28421715" cy="639062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Background</a:t>
            </a:r>
            <a:r>
              <a:rPr lang="de-DE" sz="4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D070C72-5C7A-17F9-3317-B3ABB815F453}"/>
              </a:ext>
            </a:extLst>
          </p:cNvPr>
          <p:cNvSpPr/>
          <p:nvPr/>
        </p:nvSpPr>
        <p:spPr>
          <a:xfrm>
            <a:off x="2053655" y="6642380"/>
            <a:ext cx="2625264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4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Louis Thill</a:t>
            </a:r>
            <a:r>
              <a:rPr lang="de-DE" sz="4000" b="1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endParaRPr lang="de-DE" sz="40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de-DE" sz="4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Michael N. Smolka</a:t>
            </a:r>
            <a:r>
              <a:rPr lang="en-US" sz="40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de-DE" sz="4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Robert Leech</a:t>
            </a:r>
            <a:r>
              <a:rPr lang="en-US" sz="40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de-DE" sz="40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Thomas Goschke</a:t>
            </a:r>
            <a:r>
              <a:rPr lang="en-US" sz="40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endParaRPr lang="de-DE" sz="40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r>
              <a:rPr lang="en-US" sz="38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lang="en-US" sz="3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Dresden University of Technology, Germany; </a:t>
            </a:r>
            <a:r>
              <a:rPr lang="en-US" sz="3800" baseline="30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en-US" sz="3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King’s College London, United Kingdom</a:t>
            </a:r>
            <a:endParaRPr lang="de-DE" sz="36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EB7D2D-9FE3-2158-7105-580FD3EC3C3A}"/>
              </a:ext>
            </a:extLst>
          </p:cNvPr>
          <p:cNvSpPr txBox="1"/>
          <p:nvPr/>
        </p:nvSpPr>
        <p:spPr>
          <a:xfrm>
            <a:off x="4194842" y="39017377"/>
            <a:ext cx="25210214" cy="355395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r>
              <a:rPr lang="de-DE" sz="36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Publications</a:t>
            </a:r>
            <a:endParaRPr lang="de-DE" sz="3800" b="1" dirty="0">
              <a:solidFill>
                <a:schemeClr val="accent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Thill</a:t>
            </a:r>
            <a:r>
              <a:rPr lang="de-DE" sz="32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L.</a:t>
            </a:r>
            <a:r>
              <a:rPr lang="de-DE" sz="32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Chen, H., </a:t>
            </a:r>
            <a:r>
              <a:rPr lang="de-DE" sz="320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Baeuchl</a:t>
            </a:r>
            <a:r>
              <a:rPr lang="de-DE" sz="32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C., Krasniqi, S., Born, M., Heinz, A., &amp; Smolka, M.N.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(in </a:t>
            </a:r>
            <a:r>
              <a:rPr lang="de-DE" sz="3200" dirty="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Prep</a:t>
            </a:r>
            <a:r>
              <a:rPr lang="de-DE" sz="32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).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kumimoji="0" lang="en-US" sz="3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Reduced Control Over Pavlovian-to-Instrumental Transfer Conflicts in Alcohol Use Disorder But Not Smoking</a:t>
            </a:r>
            <a:r>
              <a:rPr kumimoji="0" lang="de-DE" sz="3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  <a:endParaRPr kumimoji="0" lang="de-DE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Baeuchl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C., Chen, H., 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Thill, L.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Heinz, A., &amp; Smolka, M.N. (2025). Erhöhter alkohol-spezifischer Pawlowsch-instrumenteller Transfer bei Alkoholkonsumstörung. </a:t>
            </a:r>
            <a:r>
              <a:rPr kumimoji="0" lang="de-DE" sz="3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Deutscher Suchtkongress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kumimoji="0" lang="de-DE" sz="3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</a:t>
            </a:r>
            <a:r>
              <a:rPr kumimoji="0" lang="de-DE" sz="3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), 2292. https://doi.org/10.18416/DSK.2025.2292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Rapp, M., </a:t>
            </a:r>
            <a:r>
              <a:rPr kumimoji="0" lang="de-DE" sz="3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Wiedenhöft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J.L., …, 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Thill</a:t>
            </a:r>
            <a:r>
              <a:rPr lang="de-DE" sz="3200" b="1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L.,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…, Heinz, A.,</a:t>
            </a:r>
            <a:r>
              <a:rPr lang="de-DE" sz="3200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&amp;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Banaschewski, T. (</a:t>
            </a:r>
            <a:r>
              <a:rPr kumimoji="0" lang="de-DE" sz="3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under</a:t>
            </a:r>
            <a:r>
              <a:rPr kumimoji="0" lang="de-DE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review). 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Impulsivity, loneliness, and stress in individuals with alcohol use disorder across the lifespan. </a:t>
            </a:r>
            <a:r>
              <a:rPr kumimoji="0" lang="en-US" sz="3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Submitted to Journal of Studies on Alcohol and Drugs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DEEF207-B3C7-58B8-6711-3D85C99CCE92}"/>
              </a:ext>
            </a:extLst>
          </p:cNvPr>
          <p:cNvSpPr txBox="1"/>
          <p:nvPr/>
        </p:nvSpPr>
        <p:spPr>
          <a:xfrm>
            <a:off x="14438400" y="30950574"/>
            <a:ext cx="14865058" cy="792232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de-DE" sz="4200" b="1" dirty="0" err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Conclusion</a:t>
            </a:r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&amp; </a:t>
            </a:r>
            <a:r>
              <a:rPr lang="de-DE" sz="4200" b="1" dirty="0" err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Anne‘s</a:t>
            </a:r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4200" b="1" dirty="0" err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case</a:t>
            </a:r>
            <a:endParaRPr lang="de-DE" sz="3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8F644D6-07FE-2130-0AB2-5E850B893C62}"/>
              </a:ext>
            </a:extLst>
          </p:cNvPr>
          <p:cNvSpPr txBox="1"/>
          <p:nvPr/>
        </p:nvSpPr>
        <p:spPr>
          <a:xfrm>
            <a:off x="14427168" y="15318072"/>
            <a:ext cx="14876290" cy="15426681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4200" b="1" dirty="0" err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Results</a:t>
            </a:r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PIT &amp; </a:t>
            </a:r>
            <a:r>
              <a:rPr lang="de-DE" sz="4200" b="1" dirty="0" err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Cognitive</a:t>
            </a:r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Control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38C1E78-8A86-F314-929C-BF9D07C2DAC4}"/>
              </a:ext>
            </a:extLst>
          </p:cNvPr>
          <p:cNvSpPr/>
          <p:nvPr/>
        </p:nvSpPr>
        <p:spPr>
          <a:xfrm>
            <a:off x="881744" y="5527051"/>
            <a:ext cx="2708991" cy="2611021"/>
          </a:xfrm>
          <a:prstGeom prst="ellipse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BA7EC5-B4B7-E5EC-E24B-65F5D36A9201}"/>
              </a:ext>
            </a:extLst>
          </p:cNvPr>
          <p:cNvSpPr txBox="1"/>
          <p:nvPr/>
        </p:nvSpPr>
        <p:spPr>
          <a:xfrm>
            <a:off x="881742" y="15318072"/>
            <a:ext cx="13320000" cy="1611719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Methods</a:t>
            </a:r>
            <a:r>
              <a:rPr lang="de-DE" sz="42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AE4EB39-DEA8-8DC4-9AB5-A55726333944}"/>
              </a:ext>
            </a:extLst>
          </p:cNvPr>
          <p:cNvSpPr/>
          <p:nvPr/>
        </p:nvSpPr>
        <p:spPr>
          <a:xfrm>
            <a:off x="1177570" y="9555250"/>
            <a:ext cx="7913381" cy="5301841"/>
          </a:xfrm>
          <a:prstGeom prst="rect">
            <a:avLst/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4000"/>
              </a:lnSpc>
            </a:pPr>
            <a:r>
              <a:rPr lang="de-DE" sz="3800" b="1" u="sng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Pavlovian</a:t>
            </a:r>
            <a:r>
              <a:rPr lang="de-DE" sz="3800" b="1" u="sng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</a:t>
            </a:r>
            <a:r>
              <a:rPr lang="de-DE" sz="3800" b="1" u="sng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</a:t>
            </a:r>
            <a:r>
              <a:rPr lang="de-DE" sz="3800" b="1" u="sng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-Instrumental Transfer (PIT)</a:t>
            </a:r>
            <a:endParaRPr lang="de-DE" sz="1000" b="1" u="sng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Pavlovian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conditioned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stimuli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(CS)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can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influence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accuracy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&amp;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intensity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instrumental behavior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</a:t>
            </a:r>
            <a:endParaRPr lang="de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>
              <a:lnSpc>
                <a:spcPct val="114000"/>
              </a:lnSpc>
            </a:pPr>
            <a:endParaRPr lang="de-DE" sz="1000" i="1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de-DE" sz="3200" i="1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pos. CS </a:t>
            </a:r>
            <a:r>
              <a:rPr lang="de-DE" sz="3200" i="1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 </a:t>
            </a:r>
            <a:r>
              <a:rPr lang="de-DE" sz="3200" i="1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activation</a:t>
            </a:r>
            <a:r>
              <a:rPr lang="de-DE" sz="3200" i="1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 + </a:t>
            </a:r>
            <a:r>
              <a:rPr lang="de-DE" sz="3200" i="1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approach</a:t>
            </a:r>
            <a:endParaRPr lang="de-DE" sz="3200" i="1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  <a:sym typeface="Wingdings" panose="05000000000000000000" pitchFamily="2" charset="2"/>
            </a:endParaRPr>
          </a:p>
          <a:p>
            <a:pPr algn="ctr">
              <a:lnSpc>
                <a:spcPct val="114000"/>
              </a:lnSpc>
            </a:pPr>
            <a:r>
              <a:rPr lang="de-DE" sz="3200" i="1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neg. CS  </a:t>
            </a:r>
            <a:r>
              <a:rPr lang="de-DE" sz="3200" i="1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inhibition</a:t>
            </a:r>
            <a:r>
              <a:rPr lang="de-DE" sz="3200" i="1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 + </a:t>
            </a:r>
            <a:r>
              <a:rPr lang="de-DE" sz="3200" i="1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Wingdings" panose="05000000000000000000" pitchFamily="2" charset="2"/>
              </a:rPr>
              <a:t>avoidance</a:t>
            </a:r>
            <a:r>
              <a:rPr lang="de-DE" sz="3200" i="1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en-DE" sz="3200" i="1" dirty="0">
              <a:solidFill>
                <a:srgbClr val="00305E"/>
              </a:solidFill>
            </a:endParaRPr>
          </a:p>
        </p:txBody>
      </p:sp>
      <p:sp>
        <p:nvSpPr>
          <p:cNvPr id="27" name="Gleichschenkliges Dreieck 26">
            <a:extLst>
              <a:ext uri="{FF2B5EF4-FFF2-40B4-BE49-F238E27FC236}">
                <a16:creationId xmlns:a16="http://schemas.microsoft.com/office/drawing/2014/main" id="{1BBB1541-E65F-9825-5D4D-DA0668FCACE5}"/>
              </a:ext>
            </a:extLst>
          </p:cNvPr>
          <p:cNvSpPr/>
          <p:nvPr/>
        </p:nvSpPr>
        <p:spPr>
          <a:xfrm rot="5400000" flipH="1">
            <a:off x="21224785" y="11704516"/>
            <a:ext cx="5301846" cy="1003303"/>
          </a:xfrm>
          <a:prstGeom prst="triangle">
            <a:avLst>
              <a:gd name="adj" fmla="val 49741"/>
            </a:avLst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1DD7351-2EE5-D06A-0A8B-F3DCAC12EE0F}"/>
              </a:ext>
            </a:extLst>
          </p:cNvPr>
          <p:cNvSpPr/>
          <p:nvPr/>
        </p:nvSpPr>
        <p:spPr>
          <a:xfrm>
            <a:off x="14714615" y="9555251"/>
            <a:ext cx="8659444" cy="5302089"/>
          </a:xfrm>
          <a:prstGeom prst="rect">
            <a:avLst/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Increased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preclinical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2,3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&amp; clinical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4,5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AUD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samples</a:t>
            </a:r>
            <a:endParaRPr lang="de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spcAft>
                <a:spcPts val="115"/>
              </a:spcAft>
            </a:pPr>
            <a:endParaRPr lang="de-DE" sz="10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571500" indent="-571500"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Associated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with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increases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alcohol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consumption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&amp; relapses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</a:t>
            </a:r>
          </a:p>
          <a:p>
            <a:pPr marL="571500" indent="-571500">
              <a:spcAft>
                <a:spcPts val="115"/>
              </a:spcAft>
              <a:buFont typeface="Arial" panose="020B0604020202020204" pitchFamily="34" charset="0"/>
              <a:buChar char="•"/>
            </a:pPr>
            <a:endParaRPr lang="de-DE" sz="10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571500" indent="-571500"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Neural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correlates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in NAcc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amygdala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lPFC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&amp; dmPFC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</a:t>
            </a:r>
            <a:endParaRPr lang="de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571500" indent="-571500">
              <a:spcAft>
                <a:spcPts val="115"/>
              </a:spcAft>
              <a:buFont typeface="Arial" panose="020B0604020202020204" pitchFamily="34" charset="0"/>
              <a:buChar char="•"/>
            </a:pPr>
            <a:endParaRPr lang="de-DE" sz="10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571500" indent="-571500">
              <a:spcAft>
                <a:spcPts val="115"/>
              </a:spcAft>
              <a:buFont typeface="Arial" panose="020B0604020202020204" pitchFamily="34" charset="0"/>
              <a:buChar char="•"/>
            </a:pP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Heterogeneous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(🚬</a:t>
            </a:r>
            <a:r>
              <a:rPr lang="de-DE" sz="3800" baseline="300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or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no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evidence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for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other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substances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B6BAA3E-2DDC-556F-CC48-CD0564BDAF61}"/>
              </a:ext>
            </a:extLst>
          </p:cNvPr>
          <p:cNvSpPr/>
          <p:nvPr/>
        </p:nvSpPr>
        <p:spPr>
          <a:xfrm>
            <a:off x="9095341" y="9555244"/>
            <a:ext cx="5619274" cy="5301847"/>
          </a:xfrm>
          <a:prstGeom prst="rect">
            <a:avLst/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14000"/>
              </a:lnSpc>
              <a:spcAft>
                <a:spcPts val="115"/>
              </a:spcAft>
            </a:pPr>
            <a:endParaRPr lang="en-DE" sz="40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0" name="Grafik 29" descr="Ein Bild, das Kleidung, Cartoon, Menschliches Gesicht, Gitarre enthält.&#10;&#10;KI-generierte Inhalte können fehlerhaft sein.">
            <a:extLst>
              <a:ext uri="{FF2B5EF4-FFF2-40B4-BE49-F238E27FC236}">
                <a16:creationId xmlns:a16="http://schemas.microsoft.com/office/drawing/2014/main" id="{65EBF1C9-1155-D868-4159-B5C202C08B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232" y="9728936"/>
            <a:ext cx="5164382" cy="4812433"/>
          </a:xfrm>
          <a:prstGeom prst="rect">
            <a:avLst/>
          </a:prstGeom>
        </p:spPr>
      </p:pic>
      <p:sp>
        <p:nvSpPr>
          <p:cNvPr id="31" name="Rechteck 30">
            <a:extLst>
              <a:ext uri="{FF2B5EF4-FFF2-40B4-BE49-F238E27FC236}">
                <a16:creationId xmlns:a16="http://schemas.microsoft.com/office/drawing/2014/main" id="{358B0B3D-F714-B8E4-FBB6-6C7AF40D2357}"/>
              </a:ext>
            </a:extLst>
          </p:cNvPr>
          <p:cNvSpPr/>
          <p:nvPr/>
        </p:nvSpPr>
        <p:spPr>
          <a:xfrm>
            <a:off x="23681299" y="9377043"/>
            <a:ext cx="5573816" cy="30687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4000"/>
              </a:lnSpc>
            </a:pPr>
            <a:r>
              <a:rPr lang="de-DE" sz="3800" b="1" u="sng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Aim</a:t>
            </a:r>
            <a:r>
              <a:rPr lang="de-DE" sz="3800" b="1" u="sng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1: </a:t>
            </a:r>
            <a:endParaRPr lang="de-DE" sz="3800" u="sng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Test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transdiagnostic</a:t>
            </a:r>
            <a:endParaRPr lang="de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nature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PIT</a:t>
            </a:r>
            <a:endParaRPr lang="en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8F72D78-CF13-D4A2-7DD9-43C72AB193FC}"/>
              </a:ext>
            </a:extLst>
          </p:cNvPr>
          <p:cNvSpPr/>
          <p:nvPr/>
        </p:nvSpPr>
        <p:spPr>
          <a:xfrm>
            <a:off x="23685688" y="12201170"/>
            <a:ext cx="5573817" cy="30687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4000"/>
              </a:lnSpc>
            </a:pPr>
            <a:r>
              <a:rPr lang="de-DE" sz="3800" b="1" u="sng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Aim</a:t>
            </a:r>
            <a:r>
              <a:rPr lang="de-DE" sz="3800" b="1" u="sng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2: </a:t>
            </a:r>
            <a:endParaRPr lang="de-DE" sz="3800" u="sng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>
              <a:lnSpc>
                <a:spcPct val="114000"/>
              </a:lnSpc>
            </a:pP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Investigate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the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neurocognitive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underpinnings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of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PIT</a:t>
            </a:r>
            <a:endParaRPr lang="en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3" name="Grafik 32" descr="Ein Bild, das Kleidung, Jeans, Schuhwerk, Hose enthält.&#10;&#10;KI-generierte Inhalte können fehlerhaft sein.">
            <a:extLst>
              <a:ext uri="{FF2B5EF4-FFF2-40B4-BE49-F238E27FC236}">
                <a16:creationId xmlns:a16="http://schemas.microsoft.com/office/drawing/2014/main" id="{952F01D4-90D7-3ABF-C3C9-768C9BBEE6C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70" y="29409655"/>
            <a:ext cx="1659153" cy="1980000"/>
          </a:xfrm>
          <a:prstGeom prst="rect">
            <a:avLst/>
          </a:prstGeom>
        </p:spPr>
      </p:pic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C8C045F0-758C-B567-911F-520BF961EC0C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7504259" y="27550372"/>
            <a:ext cx="1441" cy="108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E3F7175-FB6E-FF30-7145-D8D219DFFDCD}"/>
              </a:ext>
            </a:extLst>
          </p:cNvPr>
          <p:cNvCxnSpPr>
            <a:cxnSpLocks/>
          </p:cNvCxnSpPr>
          <p:nvPr/>
        </p:nvCxnSpPr>
        <p:spPr>
          <a:xfrm flipH="1" flipV="1">
            <a:off x="3810606" y="27655770"/>
            <a:ext cx="7483275" cy="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5CF2C9C-07B2-9852-1205-3C16AD9AEFE6}"/>
              </a:ext>
            </a:extLst>
          </p:cNvPr>
          <p:cNvCxnSpPr>
            <a:cxnSpLocks/>
          </p:cNvCxnSpPr>
          <p:nvPr/>
        </p:nvCxnSpPr>
        <p:spPr>
          <a:xfrm flipH="1">
            <a:off x="2010606" y="28660449"/>
            <a:ext cx="1800000" cy="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60BC208-D500-C79E-C6D9-78681B1C9C36}"/>
              </a:ext>
            </a:extLst>
          </p:cNvPr>
          <p:cNvCxnSpPr>
            <a:cxnSpLocks/>
          </p:cNvCxnSpPr>
          <p:nvPr/>
        </p:nvCxnSpPr>
        <p:spPr>
          <a:xfrm>
            <a:off x="3810606" y="28660449"/>
            <a:ext cx="1800000" cy="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E2486707-13C3-700A-2758-028781A375B4}"/>
              </a:ext>
            </a:extLst>
          </p:cNvPr>
          <p:cNvSpPr txBox="1"/>
          <p:nvPr/>
        </p:nvSpPr>
        <p:spPr>
          <a:xfrm>
            <a:off x="6280259" y="26873264"/>
            <a:ext cx="2448000" cy="677108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200</a:t>
            </a:r>
            <a:endParaRPr lang="en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F44B1FC1-D7A4-7024-378B-548A3465169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42367" y="27834591"/>
            <a:ext cx="650537" cy="650537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18FFACE6-011C-519A-E019-35F180B22A9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34437" y="27715077"/>
            <a:ext cx="758074" cy="776494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E7A7E823-5291-BFD4-88F0-376E712DCEE2}"/>
              </a:ext>
            </a:extLst>
          </p:cNvPr>
          <p:cNvSpPr txBox="1"/>
          <p:nvPr/>
        </p:nvSpPr>
        <p:spPr>
          <a:xfrm>
            <a:off x="2876217" y="27844593"/>
            <a:ext cx="2268000" cy="646331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6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100</a:t>
            </a:r>
            <a:endParaRPr lang="en-DE" sz="36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47E36561-D4D6-B5C1-2FE9-F992B627EA47}"/>
              </a:ext>
            </a:extLst>
          </p:cNvPr>
          <p:cNvCxnSpPr>
            <a:cxnSpLocks/>
          </p:cNvCxnSpPr>
          <p:nvPr/>
        </p:nvCxnSpPr>
        <p:spPr>
          <a:xfrm flipH="1">
            <a:off x="3824239" y="28487596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68C0FC98-CC76-66B3-F4B2-E36BB9713F87}"/>
              </a:ext>
            </a:extLst>
          </p:cNvPr>
          <p:cNvSpPr txBox="1"/>
          <p:nvPr/>
        </p:nvSpPr>
        <p:spPr>
          <a:xfrm>
            <a:off x="1383818" y="28824880"/>
            <a:ext cx="1327569" cy="584775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37</a:t>
            </a:r>
            <a:endParaRPr lang="en-DE" sz="32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9340F26B-6D2A-4C29-1255-239CEB69C887}"/>
              </a:ext>
            </a:extLst>
          </p:cNvPr>
          <p:cNvSpPr txBox="1"/>
          <p:nvPr/>
        </p:nvSpPr>
        <p:spPr>
          <a:xfrm>
            <a:off x="10346159" y="27835770"/>
            <a:ext cx="2268000" cy="646331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6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100</a:t>
            </a:r>
            <a:endParaRPr lang="en-DE" sz="36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6741919-F732-C935-74D8-9655EAC6D893}"/>
              </a:ext>
            </a:extLst>
          </p:cNvPr>
          <p:cNvSpPr txBox="1"/>
          <p:nvPr/>
        </p:nvSpPr>
        <p:spPr>
          <a:xfrm>
            <a:off x="3160455" y="28844047"/>
            <a:ext cx="1327569" cy="584775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34</a:t>
            </a:r>
            <a:endParaRPr lang="en-DE" sz="32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99FE9B3D-89A9-D68B-5699-AC731F6BCF52}"/>
              </a:ext>
            </a:extLst>
          </p:cNvPr>
          <p:cNvSpPr txBox="1"/>
          <p:nvPr/>
        </p:nvSpPr>
        <p:spPr>
          <a:xfrm>
            <a:off x="4961899" y="28829975"/>
            <a:ext cx="1327569" cy="584775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29</a:t>
            </a:r>
            <a:endParaRPr lang="en-DE" sz="32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4BAEF1A5-5DFA-3DDE-6051-39B8D8EEC39C}"/>
              </a:ext>
            </a:extLst>
          </p:cNvPr>
          <p:cNvCxnSpPr>
            <a:cxnSpLocks/>
          </p:cNvCxnSpPr>
          <p:nvPr/>
        </p:nvCxnSpPr>
        <p:spPr>
          <a:xfrm flipH="1">
            <a:off x="11293881" y="28481970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D95DFE46-EA70-ADDF-1B47-18F71EF50EF0}"/>
              </a:ext>
            </a:extLst>
          </p:cNvPr>
          <p:cNvSpPr txBox="1"/>
          <p:nvPr/>
        </p:nvSpPr>
        <p:spPr>
          <a:xfrm>
            <a:off x="8880337" y="28830222"/>
            <a:ext cx="1327569" cy="584775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33</a:t>
            </a:r>
            <a:endParaRPr lang="en-DE" sz="32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148C914-21CA-E10A-A409-1BFF4FA2D8E2}"/>
              </a:ext>
            </a:extLst>
          </p:cNvPr>
          <p:cNvSpPr txBox="1"/>
          <p:nvPr/>
        </p:nvSpPr>
        <p:spPr>
          <a:xfrm>
            <a:off x="10677842" y="28850788"/>
            <a:ext cx="1327569" cy="584775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38</a:t>
            </a:r>
            <a:endParaRPr lang="en-DE" sz="32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606A279-9EC9-FEEE-D87B-35E1EF605864}"/>
              </a:ext>
            </a:extLst>
          </p:cNvPr>
          <p:cNvSpPr txBox="1"/>
          <p:nvPr/>
        </p:nvSpPr>
        <p:spPr>
          <a:xfrm>
            <a:off x="12399638" y="28831297"/>
            <a:ext cx="1327569" cy="584775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 = 29</a:t>
            </a:r>
            <a:endParaRPr lang="en-DE" sz="32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52" name="Grafik 51" descr="Ein Bild, das Kleidung, Jeans, Zeichnung, Schuhwerk enthält.&#10;&#10;KI-generierte Inhalte können fehlerhaft sein.">
            <a:extLst>
              <a:ext uri="{FF2B5EF4-FFF2-40B4-BE49-F238E27FC236}">
                <a16:creationId xmlns:a16="http://schemas.microsoft.com/office/drawing/2014/main" id="{44D341A7-B803-7594-55D5-8E1ED34FB12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700" y="29418872"/>
            <a:ext cx="1661812" cy="1980000"/>
          </a:xfrm>
          <a:prstGeom prst="rect">
            <a:avLst/>
          </a:prstGeom>
        </p:spPr>
      </p:pic>
      <p:pic>
        <p:nvPicPr>
          <p:cNvPr id="53" name="Grafik 52" descr="Ein Bild, das Kleidung, Softdrink, Flasche, Zeichnung enthält.&#10;&#10;KI-generierte Inhalte können fehlerhaft sein.">
            <a:extLst>
              <a:ext uri="{FF2B5EF4-FFF2-40B4-BE49-F238E27FC236}">
                <a16:creationId xmlns:a16="http://schemas.microsoft.com/office/drawing/2014/main" id="{0ED62351-0CF6-0A00-0E62-2CD6B6BA402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305" y="29406055"/>
            <a:ext cx="1650355" cy="1983600"/>
          </a:xfrm>
          <a:prstGeom prst="rect">
            <a:avLst/>
          </a:prstGeom>
        </p:spPr>
      </p:pic>
      <p:pic>
        <p:nvPicPr>
          <p:cNvPr id="54" name="Grafik 53" descr="Ein Bild, das Kleidung, Zeichnung, Jeans, Person enthält.&#10;&#10;KI-generierte Inhalte können fehlerhaft sein.">
            <a:extLst>
              <a:ext uri="{FF2B5EF4-FFF2-40B4-BE49-F238E27FC236}">
                <a16:creationId xmlns:a16="http://schemas.microsoft.com/office/drawing/2014/main" id="{4B5AF090-8F57-EB89-F8BD-94AAB6FD322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315" y="29425297"/>
            <a:ext cx="1653848" cy="1980000"/>
          </a:xfrm>
          <a:prstGeom prst="rect">
            <a:avLst/>
          </a:prstGeom>
        </p:spPr>
      </p:pic>
      <p:pic>
        <p:nvPicPr>
          <p:cNvPr id="56" name="Grafik 55" descr="Ein Bild, das Kleidung, Flasche, Jeans, Softdrink enthält.&#10;&#10;KI-generierte Inhalte können fehlerhaft sein.">
            <a:extLst>
              <a:ext uri="{FF2B5EF4-FFF2-40B4-BE49-F238E27FC236}">
                <a16:creationId xmlns:a16="http://schemas.microsoft.com/office/drawing/2014/main" id="{DF54C819-1556-BCE6-B420-61D68E1BB11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4572" y="29406055"/>
            <a:ext cx="1661812" cy="1980000"/>
          </a:xfrm>
          <a:prstGeom prst="rect">
            <a:avLst/>
          </a:prstGeom>
        </p:spPr>
      </p:pic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C4F6C22-1280-0E30-6155-26A1257F0940}"/>
              </a:ext>
            </a:extLst>
          </p:cNvPr>
          <p:cNvCxnSpPr>
            <a:cxnSpLocks/>
          </p:cNvCxnSpPr>
          <p:nvPr/>
        </p:nvCxnSpPr>
        <p:spPr>
          <a:xfrm>
            <a:off x="3828832" y="27655770"/>
            <a:ext cx="0" cy="188823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079C26DA-5FF8-2EAE-E867-5C7A725E3DCA}"/>
              </a:ext>
            </a:extLst>
          </p:cNvPr>
          <p:cNvCxnSpPr>
            <a:cxnSpLocks/>
          </p:cNvCxnSpPr>
          <p:nvPr/>
        </p:nvCxnSpPr>
        <p:spPr>
          <a:xfrm>
            <a:off x="11274579" y="27655770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8783D227-F316-99E5-DC01-D13260167543}"/>
              </a:ext>
            </a:extLst>
          </p:cNvPr>
          <p:cNvCxnSpPr>
            <a:cxnSpLocks/>
          </p:cNvCxnSpPr>
          <p:nvPr/>
        </p:nvCxnSpPr>
        <p:spPr>
          <a:xfrm flipH="1">
            <a:off x="2028285" y="28640117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0E3CDE99-5243-83A1-2B97-CEBA2EFD127B}"/>
              </a:ext>
            </a:extLst>
          </p:cNvPr>
          <p:cNvCxnSpPr>
            <a:cxnSpLocks/>
          </p:cNvCxnSpPr>
          <p:nvPr/>
        </p:nvCxnSpPr>
        <p:spPr>
          <a:xfrm flipH="1">
            <a:off x="3824239" y="28660449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60715D16-1AF7-C0E5-A512-A17C551203FF}"/>
              </a:ext>
            </a:extLst>
          </p:cNvPr>
          <p:cNvCxnSpPr>
            <a:cxnSpLocks/>
          </p:cNvCxnSpPr>
          <p:nvPr/>
        </p:nvCxnSpPr>
        <p:spPr>
          <a:xfrm flipH="1">
            <a:off x="5591353" y="28650246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9E3677F6-F9F7-F1DF-9EB0-ABA50C49D050}"/>
              </a:ext>
            </a:extLst>
          </p:cNvPr>
          <p:cNvCxnSpPr>
            <a:cxnSpLocks/>
          </p:cNvCxnSpPr>
          <p:nvPr/>
        </p:nvCxnSpPr>
        <p:spPr>
          <a:xfrm flipH="1">
            <a:off x="9480929" y="28667596"/>
            <a:ext cx="1800000" cy="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FC541AAD-4006-DB95-E37B-B988CD7F7EFD}"/>
              </a:ext>
            </a:extLst>
          </p:cNvPr>
          <p:cNvCxnSpPr>
            <a:cxnSpLocks/>
          </p:cNvCxnSpPr>
          <p:nvPr/>
        </p:nvCxnSpPr>
        <p:spPr>
          <a:xfrm>
            <a:off x="11280929" y="28669977"/>
            <a:ext cx="1800000" cy="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317E0CF4-87D7-159F-0E58-7C1F02F4B57C}"/>
              </a:ext>
            </a:extLst>
          </p:cNvPr>
          <p:cNvCxnSpPr>
            <a:cxnSpLocks/>
          </p:cNvCxnSpPr>
          <p:nvPr/>
        </p:nvCxnSpPr>
        <p:spPr>
          <a:xfrm flipH="1">
            <a:off x="9498608" y="28648852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9C43C40A-E183-7993-F0C7-EE2BA1B57D9D}"/>
              </a:ext>
            </a:extLst>
          </p:cNvPr>
          <p:cNvCxnSpPr>
            <a:cxnSpLocks/>
          </p:cNvCxnSpPr>
          <p:nvPr/>
        </p:nvCxnSpPr>
        <p:spPr>
          <a:xfrm flipH="1">
            <a:off x="11294562" y="28670771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D40086A9-62AD-4520-720E-4D3913076059}"/>
              </a:ext>
            </a:extLst>
          </p:cNvPr>
          <p:cNvCxnSpPr>
            <a:cxnSpLocks/>
          </p:cNvCxnSpPr>
          <p:nvPr/>
        </p:nvCxnSpPr>
        <p:spPr>
          <a:xfrm flipH="1">
            <a:off x="13064057" y="28652630"/>
            <a:ext cx="0" cy="180000"/>
          </a:xfrm>
          <a:prstGeom prst="line">
            <a:avLst/>
          </a:prstGeom>
          <a:ln w="38100">
            <a:solidFill>
              <a:srgbClr val="0030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10">
            <a:extLst>
              <a:ext uri="{FF2B5EF4-FFF2-40B4-BE49-F238E27FC236}">
                <a16:creationId xmlns:a16="http://schemas.microsoft.com/office/drawing/2014/main" id="{B3CDBEEE-FCF5-06C8-0E0D-5128AB9DFB60}"/>
              </a:ext>
            </a:extLst>
          </p:cNvPr>
          <p:cNvSpPr txBox="1"/>
          <p:nvPr/>
        </p:nvSpPr>
        <p:spPr bwMode="auto">
          <a:xfrm>
            <a:off x="3997007" y="26131149"/>
            <a:ext cx="70894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dirty="0">
                <a:solidFill>
                  <a:srgbClr val="00305E"/>
                </a:solidFill>
              </a:rPr>
              <a:t>Sample </a:t>
            </a:r>
            <a:r>
              <a:rPr lang="de-DE" sz="3800" dirty="0" err="1">
                <a:solidFill>
                  <a:srgbClr val="00305E"/>
                </a:solidFill>
              </a:rPr>
              <a:t>Stratification</a:t>
            </a:r>
            <a:r>
              <a:rPr lang="de-DE" sz="3800" dirty="0">
                <a:solidFill>
                  <a:srgbClr val="00305E"/>
                </a:solidFill>
              </a:rPr>
              <a:t> at BA</a:t>
            </a:r>
            <a:endParaRPr lang="en-DE" sz="3800" dirty="0">
              <a:solidFill>
                <a:srgbClr val="00305E"/>
              </a:solidFill>
            </a:endParaRPr>
          </a:p>
        </p:txBody>
      </p:sp>
      <p:pic>
        <p:nvPicPr>
          <p:cNvPr id="68" name="Grafik 67" descr="Ein Bild, das Text, Screenshot, Diagramm, Spielautomat enthält.&#10;&#10;KI-generierte Inhalte können fehlerhaft sein.">
            <a:extLst>
              <a:ext uri="{FF2B5EF4-FFF2-40B4-BE49-F238E27FC236}">
                <a16:creationId xmlns:a16="http://schemas.microsoft.com/office/drawing/2014/main" id="{6058773B-E322-0A7C-F8E5-273ED10A3F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081" y="18872780"/>
            <a:ext cx="12540315" cy="7053927"/>
          </a:xfrm>
          <a:prstGeom prst="rect">
            <a:avLst/>
          </a:prstGeom>
        </p:spPr>
      </p:pic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D6751D6F-8EB5-26D7-5FAB-4A5F2550F6BC}"/>
              </a:ext>
            </a:extLst>
          </p:cNvPr>
          <p:cNvCxnSpPr>
            <a:cxnSpLocks/>
          </p:cNvCxnSpPr>
          <p:nvPr/>
        </p:nvCxnSpPr>
        <p:spPr>
          <a:xfrm>
            <a:off x="1682646" y="17451241"/>
            <a:ext cx="11992886" cy="0"/>
          </a:xfrm>
          <a:prstGeom prst="line">
            <a:avLst/>
          </a:prstGeom>
          <a:ln w="76200">
            <a:solidFill>
              <a:srgbClr val="0030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lipse 69">
            <a:extLst>
              <a:ext uri="{FF2B5EF4-FFF2-40B4-BE49-F238E27FC236}">
                <a16:creationId xmlns:a16="http://schemas.microsoft.com/office/drawing/2014/main" id="{1A4AE528-AC77-FEEE-AC60-5006D91DA04C}"/>
              </a:ext>
            </a:extLst>
          </p:cNvPr>
          <p:cNvSpPr/>
          <p:nvPr/>
        </p:nvSpPr>
        <p:spPr>
          <a:xfrm>
            <a:off x="2027048" y="16924924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AE3BCAA9-8401-C3D7-B715-56908E935AD6}"/>
              </a:ext>
            </a:extLst>
          </p:cNvPr>
          <p:cNvSpPr/>
          <p:nvPr/>
        </p:nvSpPr>
        <p:spPr>
          <a:xfrm>
            <a:off x="4404394" y="16924924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BA</a:t>
            </a:r>
            <a:endParaRPr lang="en-DE" sz="3200" dirty="0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6FBF826C-7299-86BD-D351-12FA12CC9D09}"/>
              </a:ext>
            </a:extLst>
          </p:cNvPr>
          <p:cNvSpPr/>
          <p:nvPr/>
        </p:nvSpPr>
        <p:spPr>
          <a:xfrm>
            <a:off x="6822530" y="16924924"/>
            <a:ext cx="1080000" cy="1080000"/>
          </a:xfrm>
          <a:prstGeom prst="ellipse">
            <a:avLst/>
          </a:prstGeom>
          <a:gradFill flip="none" rotWithShape="1">
            <a:gsLst>
              <a:gs pos="20000">
                <a:srgbClr val="EE2D24"/>
              </a:gs>
              <a:gs pos="85000">
                <a:srgbClr val="00305E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A73D179C-97F9-6B47-FB30-EDFD12A373EE}"/>
              </a:ext>
            </a:extLst>
          </p:cNvPr>
          <p:cNvSpPr/>
          <p:nvPr/>
        </p:nvSpPr>
        <p:spPr>
          <a:xfrm>
            <a:off x="12306133" y="16924924"/>
            <a:ext cx="1080000" cy="10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3x</a:t>
            </a:r>
            <a:endParaRPr lang="en-DE" sz="3200" dirty="0"/>
          </a:p>
        </p:txBody>
      </p:sp>
      <p:sp>
        <p:nvSpPr>
          <p:cNvPr id="74" name="TextBox 10">
            <a:extLst>
              <a:ext uri="{FF2B5EF4-FFF2-40B4-BE49-F238E27FC236}">
                <a16:creationId xmlns:a16="http://schemas.microsoft.com/office/drawing/2014/main" id="{B855BC22-8301-0F24-3D8C-BA306CB08251}"/>
              </a:ext>
            </a:extLst>
          </p:cNvPr>
          <p:cNvSpPr txBox="1"/>
          <p:nvPr/>
        </p:nvSpPr>
        <p:spPr bwMode="auto">
          <a:xfrm>
            <a:off x="1214088" y="15948149"/>
            <a:ext cx="26509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err="1">
                <a:solidFill>
                  <a:srgbClr val="00305E"/>
                </a:solidFill>
              </a:rPr>
              <a:t>Pre</a:t>
            </a:r>
            <a:r>
              <a:rPr lang="de-DE" sz="3200" b="1" dirty="0">
                <a:solidFill>
                  <a:srgbClr val="00305E"/>
                </a:solidFill>
              </a:rPr>
              <a:t>-</a:t>
            </a:r>
            <a:br>
              <a:rPr lang="de-DE" sz="3200" b="1" dirty="0">
                <a:solidFill>
                  <a:srgbClr val="00305E"/>
                </a:solidFill>
              </a:rPr>
            </a:br>
            <a:r>
              <a:rPr lang="de-DE" sz="3200" b="1" dirty="0">
                <a:solidFill>
                  <a:srgbClr val="00305E"/>
                </a:solidFill>
              </a:rPr>
              <a:t>Screening</a:t>
            </a:r>
            <a:endParaRPr lang="en-DE" sz="3200" b="1" dirty="0">
              <a:solidFill>
                <a:srgbClr val="00305E"/>
              </a:solidFill>
            </a:endParaRPr>
          </a:p>
        </p:txBody>
      </p:sp>
      <p:sp>
        <p:nvSpPr>
          <p:cNvPr id="75" name="TextBox 10">
            <a:extLst>
              <a:ext uri="{FF2B5EF4-FFF2-40B4-BE49-F238E27FC236}">
                <a16:creationId xmlns:a16="http://schemas.microsoft.com/office/drawing/2014/main" id="{A31ADFB8-1839-4358-296D-DF2C7E4D7858}"/>
              </a:ext>
            </a:extLst>
          </p:cNvPr>
          <p:cNvSpPr txBox="1"/>
          <p:nvPr/>
        </p:nvSpPr>
        <p:spPr bwMode="auto">
          <a:xfrm>
            <a:off x="3270081" y="15942506"/>
            <a:ext cx="33434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305E"/>
                </a:solidFill>
              </a:rPr>
              <a:t>Basic</a:t>
            </a:r>
          </a:p>
          <a:p>
            <a:pPr algn="ctr"/>
            <a:r>
              <a:rPr lang="de-DE" sz="3200" b="1" dirty="0">
                <a:solidFill>
                  <a:srgbClr val="00305E"/>
                </a:solidFill>
              </a:rPr>
              <a:t>Assessment</a:t>
            </a:r>
            <a:endParaRPr lang="en-DE" sz="3200" b="1" dirty="0">
              <a:solidFill>
                <a:srgbClr val="00305E"/>
              </a:solidFill>
            </a:endParaRP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FD3240B9-CD70-B3BC-1B34-39AAB077AABC}"/>
              </a:ext>
            </a:extLst>
          </p:cNvPr>
          <p:cNvSpPr txBox="1"/>
          <p:nvPr/>
        </p:nvSpPr>
        <p:spPr bwMode="auto">
          <a:xfrm>
            <a:off x="5730726" y="15936066"/>
            <a:ext cx="33434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305E"/>
                </a:solidFill>
              </a:rPr>
              <a:t>On-Site</a:t>
            </a:r>
          </a:p>
          <a:p>
            <a:pPr algn="ctr"/>
            <a:r>
              <a:rPr lang="de-DE" sz="3200" b="1" dirty="0">
                <a:solidFill>
                  <a:srgbClr val="00305E"/>
                </a:solidFill>
              </a:rPr>
              <a:t>Session 1</a:t>
            </a:r>
            <a:endParaRPr lang="en-DE" sz="3200" b="1" dirty="0">
              <a:solidFill>
                <a:srgbClr val="00305E"/>
              </a:solidFill>
            </a:endParaRPr>
          </a:p>
        </p:txBody>
      </p:sp>
      <p:sp>
        <p:nvSpPr>
          <p:cNvPr id="77" name="TextBox 10">
            <a:extLst>
              <a:ext uri="{FF2B5EF4-FFF2-40B4-BE49-F238E27FC236}">
                <a16:creationId xmlns:a16="http://schemas.microsoft.com/office/drawing/2014/main" id="{60EE4B18-FF92-CAEC-56F8-523036BAE97C}"/>
              </a:ext>
            </a:extLst>
          </p:cNvPr>
          <p:cNvSpPr txBox="1"/>
          <p:nvPr/>
        </p:nvSpPr>
        <p:spPr bwMode="auto">
          <a:xfrm>
            <a:off x="7927117" y="15942507"/>
            <a:ext cx="33434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305E"/>
                </a:solidFill>
              </a:rPr>
              <a:t>On-Site</a:t>
            </a:r>
          </a:p>
          <a:p>
            <a:pPr algn="ctr"/>
            <a:r>
              <a:rPr lang="de-DE" sz="3200" b="1" dirty="0">
                <a:solidFill>
                  <a:srgbClr val="00305E"/>
                </a:solidFill>
              </a:rPr>
              <a:t>Session 2</a:t>
            </a:r>
            <a:endParaRPr lang="en-DE" sz="3200" b="1" dirty="0">
              <a:solidFill>
                <a:srgbClr val="00305E"/>
              </a:solidFill>
            </a:endParaRPr>
          </a:p>
        </p:txBody>
      </p:sp>
      <p:sp>
        <p:nvSpPr>
          <p:cNvPr id="78" name="TextBox 10">
            <a:extLst>
              <a:ext uri="{FF2B5EF4-FFF2-40B4-BE49-F238E27FC236}">
                <a16:creationId xmlns:a16="http://schemas.microsoft.com/office/drawing/2014/main" id="{13B5D9CE-D2DE-15C1-7BCD-765405A5A146}"/>
              </a:ext>
            </a:extLst>
          </p:cNvPr>
          <p:cNvSpPr txBox="1"/>
          <p:nvPr/>
        </p:nvSpPr>
        <p:spPr bwMode="auto">
          <a:xfrm>
            <a:off x="12230413" y="16346207"/>
            <a:ext cx="1233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00305E"/>
                </a:solidFill>
              </a:rPr>
              <a:t>FU</a:t>
            </a:r>
            <a:endParaRPr lang="en-DE" sz="3200" b="1" dirty="0">
              <a:solidFill>
                <a:srgbClr val="00305E"/>
              </a:solidFill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E03D2BD9-A929-63CC-F6A2-5D6D940C47C4}"/>
              </a:ext>
            </a:extLst>
          </p:cNvPr>
          <p:cNvSpPr/>
          <p:nvPr/>
        </p:nvSpPr>
        <p:spPr>
          <a:xfrm>
            <a:off x="9095341" y="16924924"/>
            <a:ext cx="1080000" cy="1080000"/>
          </a:xfrm>
          <a:prstGeom prst="ellipse">
            <a:avLst/>
          </a:prstGeom>
          <a:gradFill flip="none" rotWithShape="1">
            <a:gsLst>
              <a:gs pos="20000">
                <a:srgbClr val="EE2D24"/>
              </a:gs>
              <a:gs pos="85000">
                <a:srgbClr val="00305E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0" name="TextBox 10">
            <a:extLst>
              <a:ext uri="{FF2B5EF4-FFF2-40B4-BE49-F238E27FC236}">
                <a16:creationId xmlns:a16="http://schemas.microsoft.com/office/drawing/2014/main" id="{3A0F2930-8FC5-AA8C-E619-8AEC9B56C18B}"/>
              </a:ext>
            </a:extLst>
          </p:cNvPr>
          <p:cNvSpPr txBox="1"/>
          <p:nvPr/>
        </p:nvSpPr>
        <p:spPr bwMode="auto">
          <a:xfrm>
            <a:off x="9892332" y="16874226"/>
            <a:ext cx="26509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i="1" dirty="0" err="1">
                <a:solidFill>
                  <a:srgbClr val="00305E"/>
                </a:solidFill>
              </a:rPr>
              <a:t>every</a:t>
            </a:r>
            <a:endParaRPr lang="de-DE" sz="2400" i="1" dirty="0">
              <a:solidFill>
                <a:srgbClr val="00305E"/>
              </a:solidFill>
            </a:endParaRPr>
          </a:p>
          <a:p>
            <a:pPr algn="ctr"/>
            <a:endParaRPr lang="de-DE" sz="800" i="1" dirty="0">
              <a:solidFill>
                <a:srgbClr val="00305E"/>
              </a:solidFill>
            </a:endParaRPr>
          </a:p>
          <a:p>
            <a:pPr algn="ctr"/>
            <a:r>
              <a:rPr lang="de-DE" sz="2800" i="1" dirty="0">
                <a:solidFill>
                  <a:srgbClr val="00305E"/>
                </a:solidFill>
              </a:rPr>
              <a:t>4 </a:t>
            </a:r>
            <a:r>
              <a:rPr lang="de-DE" sz="2800" i="1" dirty="0" err="1">
                <a:solidFill>
                  <a:srgbClr val="00305E"/>
                </a:solidFill>
              </a:rPr>
              <a:t>months</a:t>
            </a:r>
            <a:endParaRPr lang="en-DE" sz="2800" i="1" dirty="0">
              <a:solidFill>
                <a:srgbClr val="00305E"/>
              </a:solidFill>
            </a:endParaRPr>
          </a:p>
        </p:txBody>
      </p:sp>
      <p:sp>
        <p:nvSpPr>
          <p:cNvPr id="81" name="TextBox 10">
            <a:extLst>
              <a:ext uri="{FF2B5EF4-FFF2-40B4-BE49-F238E27FC236}">
                <a16:creationId xmlns:a16="http://schemas.microsoft.com/office/drawing/2014/main" id="{61C94DFD-9D14-5770-478F-FA393AD4C949}"/>
              </a:ext>
            </a:extLst>
          </p:cNvPr>
          <p:cNvSpPr txBox="1"/>
          <p:nvPr/>
        </p:nvSpPr>
        <p:spPr bwMode="auto">
          <a:xfrm>
            <a:off x="6111027" y="17982712"/>
            <a:ext cx="2468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>
                <a:solidFill>
                  <a:schemeClr val="accent1"/>
                </a:solidFill>
              </a:rPr>
              <a:t>slPIT</a:t>
            </a:r>
            <a:endParaRPr lang="de-DE" sz="3200" dirty="0">
              <a:solidFill>
                <a:schemeClr val="accent1"/>
              </a:solidFill>
            </a:endParaRPr>
          </a:p>
        </p:txBody>
      </p:sp>
      <p:sp>
        <p:nvSpPr>
          <p:cNvPr id="82" name="TextBox 10">
            <a:extLst>
              <a:ext uri="{FF2B5EF4-FFF2-40B4-BE49-F238E27FC236}">
                <a16:creationId xmlns:a16="http://schemas.microsoft.com/office/drawing/2014/main" id="{1C88A063-4217-AFD8-9A3A-1DE8DB28A51D}"/>
              </a:ext>
            </a:extLst>
          </p:cNvPr>
          <p:cNvSpPr txBox="1"/>
          <p:nvPr/>
        </p:nvSpPr>
        <p:spPr bwMode="auto">
          <a:xfrm>
            <a:off x="8364368" y="17970237"/>
            <a:ext cx="2468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>
                <a:solidFill>
                  <a:srgbClr val="00305E"/>
                </a:solidFill>
              </a:rPr>
              <a:t>ftPIT</a:t>
            </a:r>
            <a:endParaRPr lang="de-DE" sz="3200" dirty="0">
              <a:solidFill>
                <a:srgbClr val="00305E"/>
              </a:solidFill>
            </a:endParaRPr>
          </a:p>
        </p:txBody>
      </p:sp>
      <p:sp>
        <p:nvSpPr>
          <p:cNvPr id="83" name="Gleichschenkliges Dreieck 82">
            <a:extLst>
              <a:ext uri="{FF2B5EF4-FFF2-40B4-BE49-F238E27FC236}">
                <a16:creationId xmlns:a16="http://schemas.microsoft.com/office/drawing/2014/main" id="{9485B907-8CCC-D004-7D1F-942923A77F42}"/>
              </a:ext>
            </a:extLst>
          </p:cNvPr>
          <p:cNvSpPr/>
          <p:nvPr/>
        </p:nvSpPr>
        <p:spPr>
          <a:xfrm flipH="1">
            <a:off x="1333079" y="18513129"/>
            <a:ext cx="12456737" cy="395681"/>
          </a:xfrm>
          <a:prstGeom prst="triangle">
            <a:avLst>
              <a:gd name="adj" fmla="val 51335"/>
            </a:avLst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5B08DFB4-F565-3D15-6AF0-C7F13A8A13EC}"/>
              </a:ext>
            </a:extLst>
          </p:cNvPr>
          <p:cNvSpPr/>
          <p:nvPr/>
        </p:nvSpPr>
        <p:spPr>
          <a:xfrm>
            <a:off x="6800850" y="18908811"/>
            <a:ext cx="1485899" cy="3364847"/>
          </a:xfrm>
          <a:prstGeom prst="rect">
            <a:avLst/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4000"/>
              </a:lnSpc>
            </a:pPr>
            <a:endParaRPr lang="en-DE" sz="3200" i="1" dirty="0">
              <a:solidFill>
                <a:srgbClr val="00305E"/>
              </a:solidFill>
            </a:endParaRP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E5F64B5E-AD25-5F60-B256-EE5BF5FA105D}"/>
              </a:ext>
            </a:extLst>
          </p:cNvPr>
          <p:cNvSpPr/>
          <p:nvPr/>
        </p:nvSpPr>
        <p:spPr>
          <a:xfrm>
            <a:off x="1295399" y="22273659"/>
            <a:ext cx="12494419" cy="242815"/>
          </a:xfrm>
          <a:prstGeom prst="rect">
            <a:avLst/>
          </a:prstGeom>
          <a:solidFill>
            <a:srgbClr val="00305E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14000"/>
              </a:lnSpc>
            </a:pPr>
            <a:endParaRPr lang="en-DE" sz="3200" i="1" dirty="0">
              <a:solidFill>
                <a:srgbClr val="00305E"/>
              </a:solidFill>
            </a:endParaRP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4A7CD3DC-B572-9B4D-708B-C2CD648CB749}"/>
              </a:ext>
            </a:extLst>
          </p:cNvPr>
          <p:cNvSpPr txBox="1"/>
          <p:nvPr/>
        </p:nvSpPr>
        <p:spPr>
          <a:xfrm>
            <a:off x="881742" y="31641092"/>
            <a:ext cx="13320001" cy="723180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de-DE" sz="4200" b="1" dirty="0" err="1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Results</a:t>
            </a:r>
            <a:r>
              <a:rPr lang="de-DE" sz="4200" b="1" dirty="0">
                <a:solidFill>
                  <a:schemeClr val="accent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AUD x Smoking Status </a:t>
            </a:r>
          </a:p>
        </p:txBody>
      </p:sp>
      <p:sp>
        <p:nvSpPr>
          <p:cNvPr id="88" name="Textfeld 5">
            <a:extLst>
              <a:ext uri="{FF2B5EF4-FFF2-40B4-BE49-F238E27FC236}">
                <a16:creationId xmlns:a16="http://schemas.microsoft.com/office/drawing/2014/main" id="{88EB7FCB-7AD2-F06E-4048-117016E461DB}"/>
              </a:ext>
            </a:extLst>
          </p:cNvPr>
          <p:cNvSpPr/>
          <p:nvPr/>
        </p:nvSpPr>
        <p:spPr>
          <a:xfrm>
            <a:off x="1106818" y="36978441"/>
            <a:ext cx="8017441" cy="1845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3800" b="1" u="none" strike="noStrike" dirty="0">
                <a:effectLst/>
                <a:uFillTx/>
                <a:ea typeface="Arial"/>
              </a:rPr>
              <a:t>AUD:			η</a:t>
            </a:r>
            <a:r>
              <a:rPr lang="de-DE" sz="3800" b="1" u="none" strike="noStrike" baseline="-25000" dirty="0">
                <a:effectLst/>
                <a:uFillTx/>
                <a:ea typeface="Arial"/>
              </a:rPr>
              <a:t>p</a:t>
            </a:r>
            <a:r>
              <a:rPr lang="de-DE" sz="3800" b="1" u="none" strike="noStrike" baseline="30000" dirty="0">
                <a:effectLst/>
                <a:uFillTx/>
                <a:ea typeface="Arial"/>
              </a:rPr>
              <a:t>2 </a:t>
            </a:r>
            <a:r>
              <a:rPr lang="de-DE" sz="3800" b="1" u="none" strike="noStrike" dirty="0">
                <a:effectLst/>
                <a:uFillTx/>
                <a:ea typeface="Arial"/>
              </a:rPr>
              <a:t>= 0.02;   </a:t>
            </a:r>
            <a:r>
              <a:rPr lang="de-DE" sz="3800" b="1" i="1" u="none" strike="noStrike" dirty="0">
                <a:effectLst/>
                <a:uFillTx/>
                <a:ea typeface="Arial"/>
              </a:rPr>
              <a:t>p</a:t>
            </a:r>
            <a:r>
              <a:rPr lang="de-DE" sz="3800" b="1" u="none" strike="noStrike" dirty="0">
                <a:effectLst/>
                <a:uFillTx/>
                <a:ea typeface="Arial"/>
              </a:rPr>
              <a:t> = .03</a:t>
            </a:r>
            <a:endParaRPr lang="en-US" sz="3800" b="1" u="none" strike="noStrike" dirty="0">
              <a:effectLst/>
              <a:uFillTx/>
            </a:endParaRPr>
          </a:p>
          <a:p>
            <a:pPr algn="ctr" defTabSz="914400">
              <a:lnSpc>
                <a:spcPct val="100000"/>
              </a:lnSpc>
            </a:pPr>
            <a:r>
              <a:rPr lang="de-DE" sz="3800" b="0" u="none" strike="noStrike" dirty="0">
                <a:effectLst/>
                <a:uFillTx/>
                <a:ea typeface="Arial"/>
              </a:rPr>
              <a:t>Smoking:		η</a:t>
            </a:r>
            <a:r>
              <a:rPr lang="de-DE" sz="3800" b="0" u="none" strike="noStrike" baseline="-25000" dirty="0">
                <a:effectLst/>
                <a:uFillTx/>
                <a:ea typeface="Arial"/>
              </a:rPr>
              <a:t>p</a:t>
            </a:r>
            <a:r>
              <a:rPr lang="de-DE" sz="3800" b="0" u="none" strike="noStrike" baseline="30000" dirty="0">
                <a:effectLst/>
                <a:uFillTx/>
                <a:ea typeface="Arial"/>
              </a:rPr>
              <a:t>2 </a:t>
            </a:r>
            <a:r>
              <a:rPr lang="de-DE" sz="3800" b="0" u="none" strike="noStrike" dirty="0">
                <a:effectLst/>
                <a:uFillTx/>
                <a:ea typeface="Arial"/>
              </a:rPr>
              <a:t>= 0.001; </a:t>
            </a:r>
            <a:r>
              <a:rPr lang="de-DE" sz="3800" b="0" i="1" u="none" strike="noStrike" dirty="0">
                <a:effectLst/>
                <a:uFillTx/>
                <a:ea typeface="Arial"/>
              </a:rPr>
              <a:t>p</a:t>
            </a:r>
            <a:r>
              <a:rPr lang="de-DE" sz="3800" b="0" u="none" strike="noStrike" dirty="0">
                <a:effectLst/>
                <a:uFillTx/>
                <a:ea typeface="Arial"/>
              </a:rPr>
              <a:t> = .83</a:t>
            </a:r>
            <a:endParaRPr lang="en-US" sz="3800" b="0" u="none" strike="noStrike" dirty="0">
              <a:effectLst/>
              <a:uFillTx/>
            </a:endParaRPr>
          </a:p>
          <a:p>
            <a:pPr algn="ctr" defTabSz="914400">
              <a:lnSpc>
                <a:spcPct val="100000"/>
              </a:lnSpc>
            </a:pPr>
            <a:r>
              <a:rPr lang="de-DE" sz="3800" b="0" u="none" strike="noStrike" dirty="0">
                <a:effectLst/>
                <a:uFillTx/>
                <a:ea typeface="Arial"/>
              </a:rPr>
              <a:t>AUD x Smoking:</a:t>
            </a:r>
            <a:r>
              <a:rPr lang="de-DE" sz="3800" dirty="0">
                <a:ea typeface="Arial"/>
              </a:rPr>
              <a:t>	</a:t>
            </a:r>
            <a:r>
              <a:rPr lang="de-DE" sz="3800" b="0" u="none" strike="noStrike" dirty="0">
                <a:effectLst/>
                <a:uFillTx/>
                <a:ea typeface="Arial"/>
              </a:rPr>
              <a:t>η</a:t>
            </a:r>
            <a:r>
              <a:rPr lang="de-DE" sz="3800" b="0" u="none" strike="noStrike" baseline="-25000" dirty="0">
                <a:effectLst/>
                <a:uFillTx/>
                <a:ea typeface="Arial"/>
              </a:rPr>
              <a:t>p</a:t>
            </a:r>
            <a:r>
              <a:rPr lang="de-DE" sz="3800" b="0" u="none" strike="noStrike" baseline="30000" dirty="0">
                <a:effectLst/>
                <a:uFillTx/>
                <a:ea typeface="Arial"/>
              </a:rPr>
              <a:t>2 </a:t>
            </a:r>
            <a:r>
              <a:rPr lang="de-DE" sz="3800" b="0" u="none" strike="noStrike" dirty="0">
                <a:effectLst/>
                <a:uFillTx/>
                <a:ea typeface="Arial"/>
              </a:rPr>
              <a:t>= 0.01;   </a:t>
            </a:r>
            <a:r>
              <a:rPr lang="de-DE" sz="3800" b="0" i="1" u="none" strike="noStrike" dirty="0">
                <a:effectLst/>
                <a:uFillTx/>
                <a:ea typeface="Arial"/>
              </a:rPr>
              <a:t>p</a:t>
            </a:r>
            <a:r>
              <a:rPr lang="de-DE" sz="3800" b="0" u="none" strike="noStrike" dirty="0">
                <a:effectLst/>
                <a:uFillTx/>
                <a:ea typeface="Arial"/>
              </a:rPr>
              <a:t> = .37</a:t>
            </a:r>
            <a:endParaRPr lang="en-US" sz="3800" b="0" u="none" strike="noStrike" dirty="0">
              <a:effectLst/>
              <a:uFillTx/>
            </a:endParaRPr>
          </a:p>
        </p:txBody>
      </p:sp>
      <p:pic>
        <p:nvPicPr>
          <p:cNvPr id="89" name="Grafik 88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A18DF9AC-2BC1-8895-00AE-A113BDE4F28A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5" r="18099"/>
          <a:stretch/>
        </p:blipFill>
        <p:spPr>
          <a:xfrm>
            <a:off x="9028426" y="32607771"/>
            <a:ext cx="5063194" cy="4777675"/>
          </a:xfrm>
          <a:prstGeom prst="rect">
            <a:avLst/>
          </a:prstGeom>
        </p:spPr>
      </p:pic>
      <p:sp>
        <p:nvSpPr>
          <p:cNvPr id="90" name="TextBox 10">
            <a:extLst>
              <a:ext uri="{FF2B5EF4-FFF2-40B4-BE49-F238E27FC236}">
                <a16:creationId xmlns:a16="http://schemas.microsoft.com/office/drawing/2014/main" id="{8BB23EF1-2ED6-7E1B-49E2-7742DEA5D028}"/>
              </a:ext>
            </a:extLst>
          </p:cNvPr>
          <p:cNvSpPr txBox="1"/>
          <p:nvPr/>
        </p:nvSpPr>
        <p:spPr bwMode="auto">
          <a:xfrm>
            <a:off x="10196428" y="37527767"/>
            <a:ext cx="35748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800" b="1" dirty="0"/>
              <a:t>τ</a:t>
            </a:r>
            <a:r>
              <a:rPr lang="de-DE" sz="3800" b="1" dirty="0"/>
              <a:t> = .10; </a:t>
            </a:r>
            <a:r>
              <a:rPr lang="de-DE" sz="3800" b="1" i="1" dirty="0"/>
              <a:t>p</a:t>
            </a:r>
            <a:r>
              <a:rPr lang="de-DE" sz="3800" b="1" dirty="0"/>
              <a:t> = .03</a:t>
            </a:r>
            <a:endParaRPr lang="en-DE" sz="3800" b="1" dirty="0"/>
          </a:p>
        </p:txBody>
      </p:sp>
      <p:pic>
        <p:nvPicPr>
          <p:cNvPr id="91" name="Grafik 90">
            <a:extLst>
              <a:ext uri="{FF2B5EF4-FFF2-40B4-BE49-F238E27FC236}">
                <a16:creationId xmlns:a16="http://schemas.microsoft.com/office/drawing/2014/main" id="{3D1405AF-442E-B695-E939-C9C40A5FB4C2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5" r="17792"/>
          <a:stretch>
            <a:fillRect/>
          </a:stretch>
        </p:blipFill>
        <p:spPr>
          <a:xfrm>
            <a:off x="23510612" y="21688574"/>
            <a:ext cx="4598198" cy="43200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69B3E695-4390-C50B-35D9-D343DA872768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7" r="15100"/>
          <a:stretch/>
        </p:blipFill>
        <p:spPr>
          <a:xfrm>
            <a:off x="23374055" y="17368574"/>
            <a:ext cx="4932239" cy="4320000"/>
          </a:xfrm>
          <a:prstGeom prst="rect">
            <a:avLst/>
          </a:prstGeom>
        </p:spPr>
      </p:pic>
      <p:sp>
        <p:nvSpPr>
          <p:cNvPr id="93" name="Textfeld 92">
            <a:extLst>
              <a:ext uri="{FF2B5EF4-FFF2-40B4-BE49-F238E27FC236}">
                <a16:creationId xmlns:a16="http://schemas.microsoft.com/office/drawing/2014/main" id="{3155F696-48A8-58BE-6C99-6DDE5F86019C}"/>
              </a:ext>
            </a:extLst>
          </p:cNvPr>
          <p:cNvSpPr txBox="1"/>
          <p:nvPr/>
        </p:nvSpPr>
        <p:spPr>
          <a:xfrm>
            <a:off x="14691284" y="16349536"/>
            <a:ext cx="7784201" cy="677108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Incongruent</a:t>
            </a:r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Trials </a:t>
            </a:r>
            <a:endParaRPr lang="en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94" name="Grafik 9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F9BAD882-0714-1D5C-0292-C5D7E34C02E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r="18417"/>
          <a:stretch/>
        </p:blipFill>
        <p:spPr>
          <a:xfrm>
            <a:off x="19006814" y="25310923"/>
            <a:ext cx="4079308" cy="3978787"/>
          </a:xfrm>
          <a:prstGeom prst="rect">
            <a:avLst/>
          </a:prstGeom>
        </p:spPr>
      </p:pic>
      <p:sp>
        <p:nvSpPr>
          <p:cNvPr id="95" name="Textfeld 94">
            <a:extLst>
              <a:ext uri="{FF2B5EF4-FFF2-40B4-BE49-F238E27FC236}">
                <a16:creationId xmlns:a16="http://schemas.microsoft.com/office/drawing/2014/main" id="{F6CD8761-05CE-48EB-B1F7-53ACDD4083F9}"/>
              </a:ext>
            </a:extLst>
          </p:cNvPr>
          <p:cNvSpPr txBox="1"/>
          <p:nvPr/>
        </p:nvSpPr>
        <p:spPr>
          <a:xfrm>
            <a:off x="23635783" y="16344671"/>
            <a:ext cx="5378274" cy="677108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800" dirty="0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Control </a:t>
            </a:r>
            <a:r>
              <a:rPr lang="de-DE" sz="3800" dirty="0" err="1">
                <a:solidFill>
                  <a:srgbClr val="00305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Capacities</a:t>
            </a:r>
            <a:endParaRPr lang="en-DE" sz="3800" dirty="0">
              <a:solidFill>
                <a:srgbClr val="00305E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96" name="Grafik 95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FE1BD15F-92E8-F305-2FE3-2B5D50C4D313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19" r="21413"/>
          <a:stretch/>
        </p:blipFill>
        <p:spPr>
          <a:xfrm>
            <a:off x="14479665" y="19804105"/>
            <a:ext cx="4146505" cy="4367178"/>
          </a:xfrm>
          <a:prstGeom prst="rect">
            <a:avLst/>
          </a:prstGeom>
        </p:spPr>
      </p:pic>
      <p:pic>
        <p:nvPicPr>
          <p:cNvPr id="97" name="Grafik 96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68B3A36B-8938-C451-820D-A28C7BB145F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1" r="18135"/>
          <a:stretch/>
        </p:blipFill>
        <p:spPr>
          <a:xfrm>
            <a:off x="14499487" y="25256920"/>
            <a:ext cx="4431132" cy="4320000"/>
          </a:xfrm>
          <a:prstGeom prst="rect">
            <a:avLst/>
          </a:prstGeom>
        </p:spPr>
      </p:pic>
      <p:pic>
        <p:nvPicPr>
          <p:cNvPr id="98" name="Grafik 97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59867EE1-B21B-6CA5-88F2-99DE318E5F68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54" r="22713"/>
          <a:stretch/>
        </p:blipFill>
        <p:spPr>
          <a:xfrm>
            <a:off x="18771659" y="19818076"/>
            <a:ext cx="3970691" cy="4368735"/>
          </a:xfrm>
          <a:prstGeom prst="rect">
            <a:avLst/>
          </a:prstGeom>
        </p:spPr>
      </p:pic>
      <p:sp>
        <p:nvSpPr>
          <p:cNvPr id="99" name="TextBox 10">
            <a:extLst>
              <a:ext uri="{FF2B5EF4-FFF2-40B4-BE49-F238E27FC236}">
                <a16:creationId xmlns:a16="http://schemas.microsoft.com/office/drawing/2014/main" id="{4F1F3CCF-4D5E-CCA2-3A62-5770A8C03D48}"/>
              </a:ext>
            </a:extLst>
          </p:cNvPr>
          <p:cNvSpPr txBox="1"/>
          <p:nvPr/>
        </p:nvSpPr>
        <p:spPr bwMode="auto">
          <a:xfrm>
            <a:off x="19393204" y="17400987"/>
            <a:ext cx="33434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b="1" dirty="0" err="1">
                <a:solidFill>
                  <a:srgbClr val="FF0000"/>
                </a:solidFill>
              </a:rPr>
              <a:t>dmPFC</a:t>
            </a:r>
            <a:endParaRPr lang="en-DE" sz="3800" b="1" dirty="0">
              <a:solidFill>
                <a:srgbClr val="FF0000"/>
              </a:solidFill>
            </a:endParaRPr>
          </a:p>
        </p:txBody>
      </p:sp>
      <p:pic>
        <p:nvPicPr>
          <p:cNvPr id="100" name="Grafik 6">
            <a:extLst>
              <a:ext uri="{FF2B5EF4-FFF2-40B4-BE49-F238E27FC236}">
                <a16:creationId xmlns:a16="http://schemas.microsoft.com/office/drawing/2014/main" id="{F9A94A5A-469F-274F-9F62-B89622928618}"/>
              </a:ext>
            </a:extLst>
          </p:cNvPr>
          <p:cNvPicPr/>
          <p:nvPr/>
        </p:nvPicPr>
        <p:blipFill>
          <a:blip r:embed="rId27"/>
          <a:srcRect l="35524" t="16640" r="34687" b="18467"/>
          <a:stretch/>
        </p:blipFill>
        <p:spPr>
          <a:xfrm>
            <a:off x="15963788" y="17970367"/>
            <a:ext cx="1800000" cy="18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rafik 100" descr="Ein Bild, das Gehirn enthält.&#10;&#10;KI-generierte Inhalte können fehlerhaft sein.">
            <a:extLst>
              <a:ext uri="{FF2B5EF4-FFF2-40B4-BE49-F238E27FC236}">
                <a16:creationId xmlns:a16="http://schemas.microsoft.com/office/drawing/2014/main" id="{66F28262-21E5-C758-2DD7-E104157E1555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63" t="17988" r="35304" b="21048"/>
          <a:stretch/>
        </p:blipFill>
        <p:spPr>
          <a:xfrm>
            <a:off x="20195460" y="18129891"/>
            <a:ext cx="1800000" cy="1580193"/>
          </a:xfrm>
          <a:prstGeom prst="rect">
            <a:avLst/>
          </a:prstGeom>
        </p:spPr>
      </p:pic>
      <p:sp>
        <p:nvSpPr>
          <p:cNvPr id="102" name="TextBox 10">
            <a:extLst>
              <a:ext uri="{FF2B5EF4-FFF2-40B4-BE49-F238E27FC236}">
                <a16:creationId xmlns:a16="http://schemas.microsoft.com/office/drawing/2014/main" id="{41260703-81C7-99E5-95F1-74F000429A2F}"/>
              </a:ext>
            </a:extLst>
          </p:cNvPr>
          <p:cNvSpPr txBox="1"/>
          <p:nvPr/>
        </p:nvSpPr>
        <p:spPr bwMode="auto">
          <a:xfrm>
            <a:off x="14906569" y="23996710"/>
            <a:ext cx="37628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b="1" i="1" dirty="0"/>
              <a:t>d</a:t>
            </a:r>
            <a:r>
              <a:rPr lang="de-DE" sz="3800" b="1" dirty="0"/>
              <a:t> = .32; </a:t>
            </a:r>
            <a:r>
              <a:rPr lang="de-DE" sz="3800" b="1" i="1" dirty="0"/>
              <a:t>p</a:t>
            </a:r>
            <a:r>
              <a:rPr lang="de-DE" sz="3800" b="1" dirty="0"/>
              <a:t> = .02</a:t>
            </a:r>
            <a:endParaRPr lang="en-DE" sz="3800" b="1" dirty="0"/>
          </a:p>
        </p:txBody>
      </p:sp>
      <p:sp>
        <p:nvSpPr>
          <p:cNvPr id="103" name="TextBox 10">
            <a:extLst>
              <a:ext uri="{FF2B5EF4-FFF2-40B4-BE49-F238E27FC236}">
                <a16:creationId xmlns:a16="http://schemas.microsoft.com/office/drawing/2014/main" id="{8A76BCD8-01D1-7B52-7E83-BB394A670AC7}"/>
              </a:ext>
            </a:extLst>
          </p:cNvPr>
          <p:cNvSpPr txBox="1"/>
          <p:nvPr/>
        </p:nvSpPr>
        <p:spPr bwMode="auto">
          <a:xfrm>
            <a:off x="19174243" y="23996710"/>
            <a:ext cx="37628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b="1" i="1" dirty="0"/>
              <a:t>d</a:t>
            </a:r>
            <a:r>
              <a:rPr lang="de-DE" sz="3800" b="1" dirty="0"/>
              <a:t> = .32; </a:t>
            </a:r>
            <a:r>
              <a:rPr lang="de-DE" sz="3800" b="1" i="1" dirty="0"/>
              <a:t>p</a:t>
            </a:r>
            <a:r>
              <a:rPr lang="de-DE" sz="3800" b="1" dirty="0"/>
              <a:t> = .02</a:t>
            </a:r>
            <a:endParaRPr lang="en-DE" sz="3800" b="1" dirty="0"/>
          </a:p>
        </p:txBody>
      </p:sp>
      <p:sp>
        <p:nvSpPr>
          <p:cNvPr id="104" name="TextBox 10">
            <a:extLst>
              <a:ext uri="{FF2B5EF4-FFF2-40B4-BE49-F238E27FC236}">
                <a16:creationId xmlns:a16="http://schemas.microsoft.com/office/drawing/2014/main" id="{48AAB0DF-99BB-A8AE-3A7B-298923F3533E}"/>
              </a:ext>
            </a:extLst>
          </p:cNvPr>
          <p:cNvSpPr txBox="1"/>
          <p:nvPr/>
        </p:nvSpPr>
        <p:spPr bwMode="auto">
          <a:xfrm>
            <a:off x="19133905" y="29461940"/>
            <a:ext cx="42727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i="1" dirty="0"/>
              <a:t>r</a:t>
            </a:r>
            <a:r>
              <a:rPr lang="de-DE" sz="3800" dirty="0"/>
              <a:t> = -.15; </a:t>
            </a:r>
            <a:r>
              <a:rPr lang="de-DE" sz="3800" i="1" dirty="0"/>
              <a:t>p</a:t>
            </a:r>
            <a:r>
              <a:rPr lang="de-DE" sz="3800" dirty="0"/>
              <a:t> = .05</a:t>
            </a:r>
            <a:endParaRPr lang="en-DE" sz="3800" dirty="0"/>
          </a:p>
        </p:txBody>
      </p:sp>
      <p:sp>
        <p:nvSpPr>
          <p:cNvPr id="105" name="TextBox 10">
            <a:extLst>
              <a:ext uri="{FF2B5EF4-FFF2-40B4-BE49-F238E27FC236}">
                <a16:creationId xmlns:a16="http://schemas.microsoft.com/office/drawing/2014/main" id="{4C188AB5-27BC-2DCB-4D52-BA289445F5D9}"/>
              </a:ext>
            </a:extLst>
          </p:cNvPr>
          <p:cNvSpPr txBox="1"/>
          <p:nvPr/>
        </p:nvSpPr>
        <p:spPr bwMode="auto">
          <a:xfrm>
            <a:off x="27432290" y="19602547"/>
            <a:ext cx="201015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800" dirty="0"/>
              <a:t>τ</a:t>
            </a:r>
            <a:r>
              <a:rPr lang="de-DE" sz="3800" dirty="0"/>
              <a:t> = .003</a:t>
            </a:r>
          </a:p>
          <a:p>
            <a:r>
              <a:rPr lang="de-DE" sz="3800" i="1" dirty="0"/>
              <a:t>p</a:t>
            </a:r>
            <a:r>
              <a:rPr lang="de-DE" sz="3800" dirty="0"/>
              <a:t> = .52</a:t>
            </a:r>
            <a:endParaRPr lang="en-DE" sz="3800" dirty="0"/>
          </a:p>
        </p:txBody>
      </p:sp>
      <p:sp>
        <p:nvSpPr>
          <p:cNvPr id="106" name="TextBox 10">
            <a:extLst>
              <a:ext uri="{FF2B5EF4-FFF2-40B4-BE49-F238E27FC236}">
                <a16:creationId xmlns:a16="http://schemas.microsoft.com/office/drawing/2014/main" id="{32D58171-A27A-6644-C0F2-E722786F7E95}"/>
              </a:ext>
            </a:extLst>
          </p:cNvPr>
          <p:cNvSpPr txBox="1"/>
          <p:nvPr/>
        </p:nvSpPr>
        <p:spPr bwMode="auto">
          <a:xfrm>
            <a:off x="27440058" y="23861574"/>
            <a:ext cx="174118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800" dirty="0"/>
              <a:t>τ</a:t>
            </a:r>
            <a:r>
              <a:rPr lang="de-DE" sz="3800" dirty="0"/>
              <a:t> = .03</a:t>
            </a:r>
          </a:p>
          <a:p>
            <a:r>
              <a:rPr lang="de-DE" sz="3800" i="1" dirty="0"/>
              <a:t>p</a:t>
            </a:r>
            <a:r>
              <a:rPr lang="de-DE" sz="3800" dirty="0"/>
              <a:t> = .59</a:t>
            </a:r>
            <a:endParaRPr lang="en-DE" sz="3800" dirty="0"/>
          </a:p>
        </p:txBody>
      </p:sp>
      <p:pic>
        <p:nvPicPr>
          <p:cNvPr id="107" name="Grafik 106">
            <a:extLst>
              <a:ext uri="{FF2B5EF4-FFF2-40B4-BE49-F238E27FC236}">
                <a16:creationId xmlns:a16="http://schemas.microsoft.com/office/drawing/2014/main" id="{90A22955-991F-44B8-6662-5D1321ECBE15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7" r="16900"/>
          <a:stretch/>
        </p:blipFill>
        <p:spPr>
          <a:xfrm>
            <a:off x="23609560" y="26214395"/>
            <a:ext cx="4696736" cy="4320000"/>
          </a:xfrm>
          <a:prstGeom prst="rect">
            <a:avLst/>
          </a:prstGeom>
        </p:spPr>
      </p:pic>
      <p:sp>
        <p:nvSpPr>
          <p:cNvPr id="108" name="TextBox 10">
            <a:extLst>
              <a:ext uri="{FF2B5EF4-FFF2-40B4-BE49-F238E27FC236}">
                <a16:creationId xmlns:a16="http://schemas.microsoft.com/office/drawing/2014/main" id="{3D590496-CEED-374F-BBDD-28293CAF8AEA}"/>
              </a:ext>
            </a:extLst>
          </p:cNvPr>
          <p:cNvSpPr txBox="1"/>
          <p:nvPr/>
        </p:nvSpPr>
        <p:spPr bwMode="auto">
          <a:xfrm>
            <a:off x="14714615" y="29480701"/>
            <a:ext cx="42727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b="1" i="1" dirty="0"/>
              <a:t>r</a:t>
            </a:r>
            <a:r>
              <a:rPr lang="de-DE" sz="3800" b="1" dirty="0"/>
              <a:t> = -.17; </a:t>
            </a:r>
            <a:r>
              <a:rPr lang="de-DE" sz="3800" b="1" i="1" dirty="0"/>
              <a:t>p</a:t>
            </a:r>
            <a:r>
              <a:rPr lang="de-DE" sz="3800" b="1" dirty="0"/>
              <a:t> = .03</a:t>
            </a:r>
            <a:endParaRPr lang="en-DE" sz="3800" b="1" dirty="0"/>
          </a:p>
        </p:txBody>
      </p:sp>
      <p:sp>
        <p:nvSpPr>
          <p:cNvPr id="109" name="TextBox 10">
            <a:extLst>
              <a:ext uri="{FF2B5EF4-FFF2-40B4-BE49-F238E27FC236}">
                <a16:creationId xmlns:a16="http://schemas.microsoft.com/office/drawing/2014/main" id="{21775589-8E8C-4D35-697E-896A52354D02}"/>
              </a:ext>
            </a:extLst>
          </p:cNvPr>
          <p:cNvSpPr txBox="1"/>
          <p:nvPr/>
        </p:nvSpPr>
        <p:spPr bwMode="auto">
          <a:xfrm>
            <a:off x="27441144" y="28209507"/>
            <a:ext cx="174118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3800" dirty="0"/>
              <a:t>τ</a:t>
            </a:r>
            <a:r>
              <a:rPr lang="de-DE" sz="3800" dirty="0"/>
              <a:t> = .04</a:t>
            </a:r>
          </a:p>
          <a:p>
            <a:pPr algn="ctr"/>
            <a:r>
              <a:rPr lang="de-DE" sz="3800" i="1" dirty="0"/>
              <a:t>p</a:t>
            </a:r>
            <a:r>
              <a:rPr lang="de-DE" sz="3800" dirty="0"/>
              <a:t> = .78</a:t>
            </a:r>
            <a:endParaRPr lang="en-DE" sz="3800" dirty="0"/>
          </a:p>
        </p:txBody>
      </p:sp>
      <p:sp>
        <p:nvSpPr>
          <p:cNvPr id="110" name="TextBox 10">
            <a:extLst>
              <a:ext uri="{FF2B5EF4-FFF2-40B4-BE49-F238E27FC236}">
                <a16:creationId xmlns:a16="http://schemas.microsoft.com/office/drawing/2014/main" id="{4CAE6E7C-D0D9-2DEF-C064-7C76F7D5E9BA}"/>
              </a:ext>
            </a:extLst>
          </p:cNvPr>
          <p:cNvSpPr txBox="1"/>
          <p:nvPr/>
        </p:nvSpPr>
        <p:spPr bwMode="auto">
          <a:xfrm>
            <a:off x="15038089" y="17400987"/>
            <a:ext cx="33434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b="1" dirty="0" err="1">
                <a:solidFill>
                  <a:srgbClr val="0000B3"/>
                </a:solidFill>
              </a:rPr>
              <a:t>lPFC</a:t>
            </a:r>
            <a:endParaRPr lang="en-DE" sz="3800" b="1" dirty="0">
              <a:solidFill>
                <a:srgbClr val="0000B3"/>
              </a:solidFill>
            </a:endParaRPr>
          </a:p>
        </p:txBody>
      </p:sp>
      <p:sp>
        <p:nvSpPr>
          <p:cNvPr id="111" name="Gleichschenkliges Dreieck 110">
            <a:extLst>
              <a:ext uri="{FF2B5EF4-FFF2-40B4-BE49-F238E27FC236}">
                <a16:creationId xmlns:a16="http://schemas.microsoft.com/office/drawing/2014/main" id="{1244A675-C7DD-027C-0266-73964F1ED6CD}"/>
              </a:ext>
            </a:extLst>
          </p:cNvPr>
          <p:cNvSpPr/>
          <p:nvPr/>
        </p:nvSpPr>
        <p:spPr>
          <a:xfrm rot="5400000">
            <a:off x="21089164" y="31819412"/>
            <a:ext cx="1332220" cy="7837714"/>
          </a:xfrm>
          <a:prstGeom prst="triangle">
            <a:avLst>
              <a:gd name="adj" fmla="val 100000"/>
            </a:avLst>
          </a:prstGeom>
          <a:solidFill>
            <a:srgbClr val="0030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3200" dirty="0" err="1"/>
              <a:t>cognitive</a:t>
            </a:r>
            <a:r>
              <a:rPr lang="de-DE" sz="3200" dirty="0"/>
              <a:t> </a:t>
            </a:r>
            <a:r>
              <a:rPr lang="de-DE" sz="3200" dirty="0" err="1"/>
              <a:t>control</a:t>
            </a:r>
            <a:endParaRPr lang="en-DE" sz="3200" dirty="0"/>
          </a:p>
        </p:txBody>
      </p:sp>
      <p:sp>
        <p:nvSpPr>
          <p:cNvPr id="112" name="Gleichschenkliges Dreieck 111">
            <a:extLst>
              <a:ext uri="{FF2B5EF4-FFF2-40B4-BE49-F238E27FC236}">
                <a16:creationId xmlns:a16="http://schemas.microsoft.com/office/drawing/2014/main" id="{E20F0B1F-A8C6-585F-A277-FA863E65A9BF}"/>
              </a:ext>
            </a:extLst>
          </p:cNvPr>
          <p:cNvSpPr/>
          <p:nvPr/>
        </p:nvSpPr>
        <p:spPr>
          <a:xfrm rot="5400000" flipH="1" flipV="1">
            <a:off x="21096426" y="31826666"/>
            <a:ext cx="1332220" cy="7823199"/>
          </a:xfrm>
          <a:prstGeom prst="triangle">
            <a:avLst>
              <a:gd name="adj" fmla="val 10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de-DE" sz="3200" dirty="0"/>
              <a:t>CS </a:t>
            </a:r>
            <a:r>
              <a:rPr lang="de-DE" sz="3200" dirty="0" err="1"/>
              <a:t>effects</a:t>
            </a:r>
            <a:r>
              <a:rPr lang="de-DE" sz="3200" dirty="0" err="1">
                <a:solidFill>
                  <a:srgbClr val="FF0000"/>
                </a:solidFill>
              </a:rPr>
              <a:t>ll</a:t>
            </a:r>
            <a:endParaRPr lang="en-DE" sz="3200" dirty="0">
              <a:solidFill>
                <a:srgbClr val="FF0000"/>
              </a:solidFill>
            </a:endParaRPr>
          </a:p>
        </p:txBody>
      </p: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F63E9211-E6F6-15C0-1F3E-ECFE1A988FB2}"/>
              </a:ext>
            </a:extLst>
          </p:cNvPr>
          <p:cNvCxnSpPr>
            <a:cxnSpLocks/>
          </p:cNvCxnSpPr>
          <p:nvPr/>
        </p:nvCxnSpPr>
        <p:spPr>
          <a:xfrm>
            <a:off x="17488075" y="35724162"/>
            <a:ext cx="8534400" cy="0"/>
          </a:xfrm>
          <a:prstGeom prst="straightConnector1">
            <a:avLst/>
          </a:prstGeom>
          <a:ln w="76200">
            <a:solidFill>
              <a:srgbClr val="A6A6A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0">
            <a:extLst>
              <a:ext uri="{FF2B5EF4-FFF2-40B4-BE49-F238E27FC236}">
                <a16:creationId xmlns:a16="http://schemas.microsoft.com/office/drawing/2014/main" id="{1785EF73-9815-FA98-484C-CE64AF543430}"/>
              </a:ext>
            </a:extLst>
          </p:cNvPr>
          <p:cNvSpPr txBox="1"/>
          <p:nvPr/>
        </p:nvSpPr>
        <p:spPr bwMode="auto">
          <a:xfrm>
            <a:off x="25733488" y="34810892"/>
            <a:ext cx="2880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i="1" dirty="0">
                <a:solidFill>
                  <a:srgbClr val="A6A6A6"/>
                </a:solidFill>
              </a:rPr>
              <a:t>frequent, </a:t>
            </a:r>
            <a:r>
              <a:rPr lang="de-DE" sz="3800" i="1" dirty="0" err="1">
                <a:solidFill>
                  <a:srgbClr val="A6A6A6"/>
                </a:solidFill>
              </a:rPr>
              <a:t>dependent</a:t>
            </a:r>
            <a:r>
              <a:rPr lang="de-DE" sz="3800" i="1" dirty="0">
                <a:solidFill>
                  <a:srgbClr val="A6A6A6"/>
                </a:solidFill>
              </a:rPr>
              <a:t> </a:t>
            </a:r>
            <a:r>
              <a:rPr lang="de-DE" sz="3800" i="1" dirty="0" err="1">
                <a:solidFill>
                  <a:srgbClr val="A6A6A6"/>
                </a:solidFill>
              </a:rPr>
              <a:t>drinking</a:t>
            </a:r>
            <a:endParaRPr lang="en-DE" sz="3800" i="1" dirty="0">
              <a:solidFill>
                <a:srgbClr val="A6A6A6"/>
              </a:solidFill>
            </a:endParaRPr>
          </a:p>
        </p:txBody>
      </p:sp>
      <p:sp>
        <p:nvSpPr>
          <p:cNvPr id="115" name="TextBox 10">
            <a:extLst>
              <a:ext uri="{FF2B5EF4-FFF2-40B4-BE49-F238E27FC236}">
                <a16:creationId xmlns:a16="http://schemas.microsoft.com/office/drawing/2014/main" id="{10ED8F86-5370-F388-8430-FCA8B0B53DC7}"/>
              </a:ext>
            </a:extLst>
          </p:cNvPr>
          <p:cNvSpPr txBox="1"/>
          <p:nvPr/>
        </p:nvSpPr>
        <p:spPr bwMode="auto">
          <a:xfrm>
            <a:off x="21760001" y="37654000"/>
            <a:ext cx="345784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dirty="0">
                <a:solidFill>
                  <a:srgbClr val="00305E"/>
                </a:solidFill>
              </a:rPr>
              <a:t>just-in-time </a:t>
            </a:r>
            <a:r>
              <a:rPr lang="de-DE" sz="3800" dirty="0" err="1">
                <a:solidFill>
                  <a:srgbClr val="00305E"/>
                </a:solidFill>
              </a:rPr>
              <a:t>intervention</a:t>
            </a:r>
            <a:endParaRPr lang="en-DE" sz="3800" dirty="0">
              <a:solidFill>
                <a:srgbClr val="00305E"/>
              </a:solidFill>
            </a:endParaRPr>
          </a:p>
        </p:txBody>
      </p: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AB8C40B3-E4EF-DCD1-DC6D-925F2F5BBEEB}"/>
              </a:ext>
            </a:extLst>
          </p:cNvPr>
          <p:cNvGrpSpPr/>
          <p:nvPr/>
        </p:nvGrpSpPr>
        <p:grpSpPr>
          <a:xfrm>
            <a:off x="22944278" y="35048560"/>
            <a:ext cx="541500" cy="1373480"/>
            <a:chOff x="21911644" y="35746671"/>
            <a:chExt cx="541500" cy="1373480"/>
          </a:xfrm>
        </p:grpSpPr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19D5BFEC-EB15-BC39-1560-DBEBD4F1F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16724" y="35746671"/>
              <a:ext cx="169590" cy="2669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354BE64B-6D6A-7F94-A463-3ACFE599027F}"/>
                </a:ext>
              </a:extLst>
            </p:cNvPr>
            <p:cNvCxnSpPr>
              <a:cxnSpLocks/>
            </p:cNvCxnSpPr>
            <p:nvPr/>
          </p:nvCxnSpPr>
          <p:spPr>
            <a:xfrm>
              <a:off x="21911644" y="35989257"/>
              <a:ext cx="346510" cy="254405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1643891A-18EF-A726-7F8F-BE62F947BB69}"/>
                </a:ext>
              </a:extLst>
            </p:cNvPr>
            <p:cNvCxnSpPr>
              <a:cxnSpLocks/>
            </p:cNvCxnSpPr>
            <p:nvPr/>
          </p:nvCxnSpPr>
          <p:spPr>
            <a:xfrm>
              <a:off x="22246924" y="36214939"/>
              <a:ext cx="671" cy="294723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F5807963-27C7-5505-869B-D910674A5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11714" y="36489259"/>
              <a:ext cx="143844" cy="168021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r Verbinder 120">
              <a:extLst>
                <a:ext uri="{FF2B5EF4-FFF2-40B4-BE49-F238E27FC236}">
                  <a16:creationId xmlns:a16="http://schemas.microsoft.com/office/drawing/2014/main" id="{4D195B12-C833-AC80-4446-12CA1666630B}"/>
                </a:ext>
              </a:extLst>
            </p:cNvPr>
            <p:cNvCxnSpPr>
              <a:cxnSpLocks/>
            </p:cNvCxnSpPr>
            <p:nvPr/>
          </p:nvCxnSpPr>
          <p:spPr>
            <a:xfrm>
              <a:off x="22106634" y="36624257"/>
              <a:ext cx="346510" cy="254405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Gerader Verbinder 121">
              <a:extLst>
                <a:ext uri="{FF2B5EF4-FFF2-40B4-BE49-F238E27FC236}">
                  <a16:creationId xmlns:a16="http://schemas.microsoft.com/office/drawing/2014/main" id="{DC82D4AE-9F4D-6FE2-A48E-6594B1EAE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272324" y="36853235"/>
              <a:ext cx="169590" cy="266916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0">
            <a:extLst>
              <a:ext uri="{FF2B5EF4-FFF2-40B4-BE49-F238E27FC236}">
                <a16:creationId xmlns:a16="http://schemas.microsoft.com/office/drawing/2014/main" id="{48721058-D188-5C9D-61F7-4DF125E8A24A}"/>
              </a:ext>
            </a:extLst>
          </p:cNvPr>
          <p:cNvSpPr txBox="1"/>
          <p:nvPr/>
        </p:nvSpPr>
        <p:spPr bwMode="auto">
          <a:xfrm>
            <a:off x="14889079" y="34840755"/>
            <a:ext cx="2880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i="1" dirty="0" err="1">
                <a:solidFill>
                  <a:srgbClr val="A6A6A6"/>
                </a:solidFill>
              </a:rPr>
              <a:t>occasional</a:t>
            </a:r>
            <a:r>
              <a:rPr lang="de-DE" sz="3800" i="1" dirty="0">
                <a:solidFill>
                  <a:srgbClr val="A6A6A6"/>
                </a:solidFill>
              </a:rPr>
              <a:t>,</a:t>
            </a:r>
          </a:p>
          <a:p>
            <a:pPr algn="ctr"/>
            <a:r>
              <a:rPr lang="de-DE" sz="3800" i="1" dirty="0" err="1">
                <a:solidFill>
                  <a:srgbClr val="A6A6A6"/>
                </a:solidFill>
              </a:rPr>
              <a:t>controlled</a:t>
            </a:r>
            <a:r>
              <a:rPr lang="de-DE" sz="3800" i="1" dirty="0">
                <a:solidFill>
                  <a:srgbClr val="A6A6A6"/>
                </a:solidFill>
              </a:rPr>
              <a:t> </a:t>
            </a:r>
            <a:r>
              <a:rPr lang="de-DE" sz="3800" i="1" dirty="0" err="1">
                <a:solidFill>
                  <a:srgbClr val="A6A6A6"/>
                </a:solidFill>
              </a:rPr>
              <a:t>drinking</a:t>
            </a:r>
            <a:endParaRPr lang="en-DE" sz="3800" i="1" dirty="0">
              <a:solidFill>
                <a:srgbClr val="A6A6A6"/>
              </a:solidFill>
            </a:endParaRPr>
          </a:p>
        </p:txBody>
      </p:sp>
      <p:pic>
        <p:nvPicPr>
          <p:cNvPr id="124" name="Grafik 123">
            <a:extLst>
              <a:ext uri="{FF2B5EF4-FFF2-40B4-BE49-F238E27FC236}">
                <a16:creationId xmlns:a16="http://schemas.microsoft.com/office/drawing/2014/main" id="{163B509C-8261-3968-CE12-A54C4F8D8859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0255" y="36409936"/>
            <a:ext cx="1797120" cy="1432580"/>
          </a:xfrm>
          <a:prstGeom prst="rect">
            <a:avLst/>
          </a:prstGeom>
        </p:spPr>
      </p:pic>
      <p:sp>
        <p:nvSpPr>
          <p:cNvPr id="125" name="TextBox 10">
            <a:extLst>
              <a:ext uri="{FF2B5EF4-FFF2-40B4-BE49-F238E27FC236}">
                <a16:creationId xmlns:a16="http://schemas.microsoft.com/office/drawing/2014/main" id="{C5C2124C-FF83-C764-1BF5-628DFAFD10B4}"/>
              </a:ext>
            </a:extLst>
          </p:cNvPr>
          <p:cNvSpPr txBox="1"/>
          <p:nvPr/>
        </p:nvSpPr>
        <p:spPr bwMode="auto">
          <a:xfrm>
            <a:off x="17886310" y="37654000"/>
            <a:ext cx="39144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800" dirty="0" err="1">
                <a:solidFill>
                  <a:srgbClr val="00305E"/>
                </a:solidFill>
              </a:rPr>
              <a:t>risk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assessment</a:t>
            </a:r>
            <a:r>
              <a:rPr lang="de-DE" sz="3800" dirty="0">
                <a:solidFill>
                  <a:srgbClr val="00305E"/>
                </a:solidFill>
              </a:rPr>
              <a:t> &amp; </a:t>
            </a:r>
            <a:r>
              <a:rPr lang="de-DE" sz="3800" dirty="0" err="1">
                <a:solidFill>
                  <a:srgbClr val="00305E"/>
                </a:solidFill>
              </a:rPr>
              <a:t>monitoring</a:t>
            </a:r>
            <a:endParaRPr lang="en-DE" sz="3800" dirty="0">
              <a:solidFill>
                <a:srgbClr val="00305E"/>
              </a:solidFill>
            </a:endParaRPr>
          </a:p>
        </p:txBody>
      </p:sp>
      <p:sp>
        <p:nvSpPr>
          <p:cNvPr id="127" name="TextBox 10">
            <a:extLst>
              <a:ext uri="{FF2B5EF4-FFF2-40B4-BE49-F238E27FC236}">
                <a16:creationId xmlns:a16="http://schemas.microsoft.com/office/drawing/2014/main" id="{EEEAD067-F867-6969-D787-D42AB5366284}"/>
              </a:ext>
            </a:extLst>
          </p:cNvPr>
          <p:cNvSpPr txBox="1"/>
          <p:nvPr/>
        </p:nvSpPr>
        <p:spPr bwMode="auto">
          <a:xfrm>
            <a:off x="14714614" y="31936278"/>
            <a:ext cx="14284517" cy="677108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800" dirty="0" err="1">
                <a:solidFill>
                  <a:srgbClr val="00305E"/>
                </a:solidFill>
              </a:rPr>
              <a:t>Increased</a:t>
            </a:r>
            <a:r>
              <a:rPr lang="de-DE" sz="3800" dirty="0">
                <a:solidFill>
                  <a:srgbClr val="00305E"/>
                </a:solidFill>
              </a:rPr>
              <a:t> PIT </a:t>
            </a:r>
            <a:r>
              <a:rPr lang="de-DE" sz="3800" dirty="0" err="1">
                <a:solidFill>
                  <a:srgbClr val="00305E"/>
                </a:solidFill>
              </a:rPr>
              <a:t>interference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across</a:t>
            </a:r>
            <a:r>
              <a:rPr lang="de-DE" sz="3800" dirty="0">
                <a:solidFill>
                  <a:srgbClr val="00305E"/>
                </a:solidFill>
              </a:rPr>
              <a:t> AUD </a:t>
            </a:r>
            <a:r>
              <a:rPr lang="de-DE" sz="3800" dirty="0" err="1">
                <a:solidFill>
                  <a:srgbClr val="00305E"/>
                </a:solidFill>
              </a:rPr>
              <a:t>spectrum</a:t>
            </a:r>
            <a:endParaRPr lang="en-DE" sz="3800" dirty="0">
              <a:solidFill>
                <a:srgbClr val="00305E"/>
              </a:solidFill>
            </a:endParaRPr>
          </a:p>
        </p:txBody>
      </p:sp>
      <p:sp>
        <p:nvSpPr>
          <p:cNvPr id="128" name="TextBox 10">
            <a:extLst>
              <a:ext uri="{FF2B5EF4-FFF2-40B4-BE49-F238E27FC236}">
                <a16:creationId xmlns:a16="http://schemas.microsoft.com/office/drawing/2014/main" id="{47A42764-F9C7-E788-47CB-1CF71C12A879}"/>
              </a:ext>
            </a:extLst>
          </p:cNvPr>
          <p:cNvSpPr txBox="1"/>
          <p:nvPr/>
        </p:nvSpPr>
        <p:spPr bwMode="auto">
          <a:xfrm>
            <a:off x="14714615" y="32889230"/>
            <a:ext cx="14284517" cy="677108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800" dirty="0" err="1">
                <a:solidFill>
                  <a:srgbClr val="00305E"/>
                </a:solidFill>
              </a:rPr>
              <a:t>No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evidence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for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similar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effects</a:t>
            </a:r>
            <a:r>
              <a:rPr lang="de-DE" sz="3800" dirty="0">
                <a:solidFill>
                  <a:srgbClr val="00305E"/>
                </a:solidFill>
              </a:rPr>
              <a:t> in </a:t>
            </a:r>
            <a:r>
              <a:rPr lang="de-DE" sz="3800" dirty="0" err="1">
                <a:solidFill>
                  <a:srgbClr val="00305E"/>
                </a:solidFill>
              </a:rPr>
              <a:t>smoking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or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interaction</a:t>
            </a:r>
            <a:endParaRPr lang="en-DE" sz="3800" dirty="0">
              <a:solidFill>
                <a:srgbClr val="00305E"/>
              </a:solidFill>
            </a:endParaRPr>
          </a:p>
        </p:txBody>
      </p:sp>
      <p:pic>
        <p:nvPicPr>
          <p:cNvPr id="129" name="Grafik 128">
            <a:extLst>
              <a:ext uri="{FF2B5EF4-FFF2-40B4-BE49-F238E27FC236}">
                <a16:creationId xmlns:a16="http://schemas.microsoft.com/office/drawing/2014/main" id="{CC91E484-2F07-E00C-36A2-D14B8CED7AA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4471774" y="31729024"/>
            <a:ext cx="720000" cy="720000"/>
          </a:xfrm>
          <a:prstGeom prst="rect">
            <a:avLst/>
          </a:prstGeom>
        </p:spPr>
      </p:pic>
      <p:pic>
        <p:nvPicPr>
          <p:cNvPr id="130" name="Grafik 129">
            <a:extLst>
              <a:ext uri="{FF2B5EF4-FFF2-40B4-BE49-F238E27FC236}">
                <a16:creationId xmlns:a16="http://schemas.microsoft.com/office/drawing/2014/main" id="{8382C2E9-71E1-F1A1-7C77-2113D7EC3B8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4477675" y="32719133"/>
            <a:ext cx="720000" cy="720000"/>
          </a:xfrm>
          <a:prstGeom prst="rect">
            <a:avLst/>
          </a:prstGeom>
        </p:spPr>
      </p:pic>
      <p:sp>
        <p:nvSpPr>
          <p:cNvPr id="131" name="TextBox 10">
            <a:extLst>
              <a:ext uri="{FF2B5EF4-FFF2-40B4-BE49-F238E27FC236}">
                <a16:creationId xmlns:a16="http://schemas.microsoft.com/office/drawing/2014/main" id="{09458156-75F2-48FF-832E-E1B3B3F44A26}"/>
              </a:ext>
            </a:extLst>
          </p:cNvPr>
          <p:cNvSpPr txBox="1"/>
          <p:nvPr/>
        </p:nvSpPr>
        <p:spPr bwMode="auto">
          <a:xfrm>
            <a:off x="14740750" y="33839565"/>
            <a:ext cx="14284517" cy="677108"/>
          </a:xfrm>
          <a:prstGeom prst="rect">
            <a:avLst/>
          </a:prstGeom>
          <a:solidFill>
            <a:srgbClr val="00305E">
              <a:alpha val="1019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800" dirty="0">
                <a:solidFill>
                  <a:srgbClr val="00305E"/>
                </a:solidFill>
              </a:rPr>
              <a:t>Potential link </a:t>
            </a:r>
            <a:r>
              <a:rPr lang="de-DE" sz="3800" dirty="0" err="1">
                <a:solidFill>
                  <a:srgbClr val="00305E"/>
                </a:solidFill>
              </a:rPr>
              <a:t>with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reduced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recruitment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of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control</a:t>
            </a:r>
            <a:r>
              <a:rPr lang="de-DE" sz="3800" dirty="0">
                <a:solidFill>
                  <a:srgbClr val="00305E"/>
                </a:solidFill>
              </a:rPr>
              <a:t> </a:t>
            </a:r>
            <a:r>
              <a:rPr lang="de-DE" sz="3800" dirty="0" err="1">
                <a:solidFill>
                  <a:srgbClr val="00305E"/>
                </a:solidFill>
              </a:rPr>
              <a:t>resources</a:t>
            </a:r>
            <a:endParaRPr lang="en-DE" sz="3800" dirty="0">
              <a:solidFill>
                <a:srgbClr val="00305E"/>
              </a:solidFill>
            </a:endParaRPr>
          </a:p>
        </p:txBody>
      </p:sp>
      <p:pic>
        <p:nvPicPr>
          <p:cNvPr id="132" name="Grafik 131">
            <a:extLst>
              <a:ext uri="{FF2B5EF4-FFF2-40B4-BE49-F238E27FC236}">
                <a16:creationId xmlns:a16="http://schemas.microsoft.com/office/drawing/2014/main" id="{5D181B6E-4720-71CF-4662-83C7488AA07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4471774" y="33673907"/>
            <a:ext cx="720000" cy="720000"/>
          </a:xfrm>
          <a:prstGeom prst="rect">
            <a:avLst/>
          </a:prstGeom>
        </p:spPr>
      </p:pic>
      <p:sp>
        <p:nvSpPr>
          <p:cNvPr id="133" name="TextBox 10">
            <a:extLst>
              <a:ext uri="{FF2B5EF4-FFF2-40B4-BE49-F238E27FC236}">
                <a16:creationId xmlns:a16="http://schemas.microsoft.com/office/drawing/2014/main" id="{B683C55C-F883-188D-6272-081973FFFA5D}"/>
              </a:ext>
            </a:extLst>
          </p:cNvPr>
          <p:cNvSpPr txBox="1"/>
          <p:nvPr/>
        </p:nvSpPr>
        <p:spPr bwMode="auto">
          <a:xfrm>
            <a:off x="6332565" y="28790162"/>
            <a:ext cx="2503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i="1" dirty="0">
                <a:solidFill>
                  <a:srgbClr val="FF0000"/>
                </a:solidFill>
              </a:rPr>
              <a:t>Smoking</a:t>
            </a:r>
          </a:p>
          <a:p>
            <a:pPr algn="ctr"/>
            <a:r>
              <a:rPr lang="de-DE" sz="3600" i="1" dirty="0">
                <a:solidFill>
                  <a:srgbClr val="FF0000"/>
                </a:solidFill>
              </a:rPr>
              <a:t>Status</a:t>
            </a:r>
            <a:endParaRPr lang="en-DE" sz="3600" i="1" dirty="0">
              <a:solidFill>
                <a:srgbClr val="FF0000"/>
              </a:solidFill>
            </a:endParaRPr>
          </a:p>
        </p:txBody>
      </p:sp>
      <p:sp>
        <p:nvSpPr>
          <p:cNvPr id="134" name="TextBox 10">
            <a:extLst>
              <a:ext uri="{FF2B5EF4-FFF2-40B4-BE49-F238E27FC236}">
                <a16:creationId xmlns:a16="http://schemas.microsoft.com/office/drawing/2014/main" id="{6A6AA679-FF15-AF84-E1EA-137A91C9F532}"/>
              </a:ext>
            </a:extLst>
          </p:cNvPr>
          <p:cNvSpPr txBox="1"/>
          <p:nvPr/>
        </p:nvSpPr>
        <p:spPr bwMode="auto">
          <a:xfrm>
            <a:off x="6316815" y="27864193"/>
            <a:ext cx="25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i="1" dirty="0">
                <a:solidFill>
                  <a:srgbClr val="FF0000"/>
                </a:solidFill>
              </a:rPr>
              <a:t>AUD</a:t>
            </a:r>
            <a:endParaRPr lang="en-DE" sz="3600" i="1" dirty="0">
              <a:solidFill>
                <a:srgbClr val="FF0000"/>
              </a:solidFill>
            </a:endParaRPr>
          </a:p>
        </p:txBody>
      </p:sp>
      <p:sp>
        <p:nvSpPr>
          <p:cNvPr id="135" name="TextBox 10">
            <a:extLst>
              <a:ext uri="{FF2B5EF4-FFF2-40B4-BE49-F238E27FC236}">
                <a16:creationId xmlns:a16="http://schemas.microsoft.com/office/drawing/2014/main" id="{D552CBBD-B08A-9F6B-A9A4-F61425466639}"/>
              </a:ext>
            </a:extLst>
          </p:cNvPr>
          <p:cNvSpPr txBox="1"/>
          <p:nvPr/>
        </p:nvSpPr>
        <p:spPr bwMode="auto">
          <a:xfrm>
            <a:off x="6329372" y="28269843"/>
            <a:ext cx="250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i="1" dirty="0">
                <a:solidFill>
                  <a:srgbClr val="FF0000"/>
                </a:solidFill>
              </a:rPr>
              <a:t>x</a:t>
            </a:r>
            <a:endParaRPr lang="en-DE" sz="3600" i="1" dirty="0">
              <a:solidFill>
                <a:srgbClr val="FF0000"/>
              </a:solidFill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AC937E5B-EB60-6123-B5F7-BDAAA4EDB735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746" y="36398889"/>
            <a:ext cx="1910106" cy="12734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UD_Powerpoint">
  <a:themeElements>
    <a:clrScheme name="TUD_2021-08_blau">
      <a:dk1>
        <a:srgbClr val="000000"/>
      </a:dk1>
      <a:lt1>
        <a:srgbClr val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77AE"/>
      </a:accent4>
      <a:accent5>
        <a:srgbClr val="00A1D9"/>
      </a:accent5>
      <a:accent6>
        <a:srgbClr val="84CFED"/>
      </a:accent6>
      <a:hlink>
        <a:srgbClr val="0069B4"/>
      </a:hlink>
      <a:folHlink>
        <a:srgbClr val="009FE3"/>
      </a:folHlink>
    </a:clrScheme>
    <a:fontScheme name="TUD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521</Words>
  <Application>Microsoft Office PowerPoint</Application>
  <PresentationFormat>Benutzerdefiniert</PresentationFormat>
  <Paragraphs>91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Noto Sans</vt:lpstr>
      <vt:lpstr>Open Sans</vt:lpstr>
      <vt:lpstr>Symbol</vt:lpstr>
      <vt:lpstr>Wingdings</vt:lpstr>
      <vt:lpstr>TUD_Powerpoint</vt:lpstr>
      <vt:lpstr>PowerPoint-Präsentation</vt:lpstr>
    </vt:vector>
  </TitlesOfParts>
  <Company>UKD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Soltmann, Bettina</dc:creator>
  <dc:description/>
  <cp:lastModifiedBy>Louis Thill</cp:lastModifiedBy>
  <cp:revision>62</cp:revision>
  <dcterms:created xsi:type="dcterms:W3CDTF">2022-08-17T09:03:47Z</dcterms:created>
  <dcterms:modified xsi:type="dcterms:W3CDTF">2026-06-08T09:18:08Z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0x010100C28E7D98DD684C4D90FEF8100DA463DB</vt:lpwstr>
  </property>
  <property fmtid="{D5CDD505-2E9C-101B-9397-08002B2CF9AE}" pid="3" name="PresentationFormat">
    <vt:lpwstr>Benutzerdefiniert</vt:lpwstr>
  </property>
  <property fmtid="{D5CDD505-2E9C-101B-9397-08002B2CF9AE}" pid="4" name="Slides">
    <vt:i4>2</vt:i4>
  </property>
  <property fmtid="{D5CDD505-2E9C-101B-9397-08002B2CF9AE}" pid="5" name="_dlc_DocIdItemGuid">
    <vt:lpwstr>0a6c300f-da7d-451e-8f50-f6ab40ed1b19</vt:lpwstr>
  </property>
</Properties>
</file>